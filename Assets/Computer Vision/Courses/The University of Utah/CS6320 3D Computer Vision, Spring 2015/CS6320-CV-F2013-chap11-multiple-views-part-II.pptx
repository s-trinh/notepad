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40" r:id="rId2"/>
  </p:sldMasterIdLst>
  <p:notesMasterIdLst>
    <p:notesMasterId r:id="rId44"/>
  </p:notesMasterIdLst>
  <p:handoutMasterIdLst>
    <p:handoutMasterId r:id="rId45"/>
  </p:handoutMasterIdLst>
  <p:sldIdLst>
    <p:sldId id="258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318" r:id="rId11"/>
    <p:sldId id="317" r:id="rId12"/>
    <p:sldId id="31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335" r:id="rId23"/>
    <p:sldId id="289" r:id="rId24"/>
    <p:sldId id="336" r:id="rId25"/>
    <p:sldId id="337" r:id="rId26"/>
    <p:sldId id="341" r:id="rId27"/>
    <p:sldId id="338" r:id="rId28"/>
    <p:sldId id="339" r:id="rId29"/>
    <p:sldId id="340" r:id="rId30"/>
    <p:sldId id="290" r:id="rId31"/>
    <p:sldId id="297" r:id="rId32"/>
    <p:sldId id="298" r:id="rId33"/>
    <p:sldId id="299" r:id="rId34"/>
    <p:sldId id="300" r:id="rId35"/>
    <p:sldId id="301" r:id="rId36"/>
    <p:sldId id="302" r:id="rId37"/>
    <p:sldId id="342" r:id="rId38"/>
    <p:sldId id="343" r:id="rId39"/>
    <p:sldId id="344" r:id="rId40"/>
    <p:sldId id="345" r:id="rId41"/>
    <p:sldId id="346" r:id="rId42"/>
    <p:sldId id="347" r:id="rId43"/>
  </p:sldIdLst>
  <p:sldSz cx="9144000" cy="6858000" type="screen4x3"/>
  <p:notesSz cx="69850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4B4B"/>
    <a:srgbClr val="FF5B5B"/>
    <a:srgbClr val="FF0000"/>
    <a:srgbClr val="FF66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834" y="-72"/>
      </p:cViewPr>
      <p:guideLst>
        <p:guide orient="horz" pos="3877"/>
        <p:guide pos="102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16"/>
    </p:cViewPr>
  </p:sorterViewPr>
  <p:notesViewPr>
    <p:cSldViewPr>
      <p:cViewPr varScale="1">
        <p:scale>
          <a:sx n="46" d="100"/>
          <a:sy n="46" d="100"/>
        </p:scale>
        <p:origin x="-2034" y="-108"/>
      </p:cViewPr>
      <p:guideLst>
        <p:guide orient="horz" pos="2924"/>
        <p:guide pos="22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emf"/><Relationship Id="rId6" Type="http://schemas.openxmlformats.org/officeDocument/2006/relationships/image" Target="../media/image37.e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41.wmf"/><Relationship Id="rId7" Type="http://schemas.openxmlformats.org/officeDocument/2006/relationships/image" Target="../media/image45.wmf"/><Relationship Id="rId12" Type="http://schemas.openxmlformats.org/officeDocument/2006/relationships/image" Target="../media/image50.wmf"/><Relationship Id="rId2" Type="http://schemas.openxmlformats.org/officeDocument/2006/relationships/image" Target="../media/image40.wmf"/><Relationship Id="rId1" Type="http://schemas.openxmlformats.org/officeDocument/2006/relationships/image" Target="../media/image30.wmf"/><Relationship Id="rId6" Type="http://schemas.openxmlformats.org/officeDocument/2006/relationships/image" Target="../media/image44.wmf"/><Relationship Id="rId11" Type="http://schemas.openxmlformats.org/officeDocument/2006/relationships/image" Target="../media/image49.wmf"/><Relationship Id="rId5" Type="http://schemas.openxmlformats.org/officeDocument/2006/relationships/image" Target="../media/image43.wmf"/><Relationship Id="rId10" Type="http://schemas.openxmlformats.org/officeDocument/2006/relationships/image" Target="../media/image48.wmf"/><Relationship Id="rId4" Type="http://schemas.openxmlformats.org/officeDocument/2006/relationships/image" Target="../media/image42.wmf"/><Relationship Id="rId9" Type="http://schemas.openxmlformats.org/officeDocument/2006/relationships/image" Target="../media/image4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4" Type="http://schemas.openxmlformats.org/officeDocument/2006/relationships/image" Target="../media/image5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9" tIns="46480" rIns="92959" bIns="46480" rtlCol="0"/>
          <a:lstStyle>
            <a:lvl1pPr algn="l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9" tIns="46480" rIns="92959" bIns="46480" rtlCol="0"/>
          <a:lstStyle>
            <a:lvl1pPr algn="r">
              <a:defRPr sz="1300"/>
            </a:lvl1pPr>
          </a:lstStyle>
          <a:p>
            <a:pPr>
              <a:defRPr/>
            </a:pPr>
            <a:fld id="{84B8ED5D-4E15-492A-AFA3-C21BF7DBA1CA}" type="datetimeFigureOut">
              <a:rPr lang="en-US"/>
              <a:pPr>
                <a:defRPr/>
              </a:pPr>
              <a:t>2/6/2013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9" tIns="46480" rIns="92959" bIns="46480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9" tIns="46480" rIns="92959" bIns="46480" rtlCol="0" anchor="b"/>
          <a:lstStyle>
            <a:lvl1pPr algn="r">
              <a:defRPr sz="1300"/>
            </a:lvl1pPr>
          </a:lstStyle>
          <a:p>
            <a:pPr>
              <a:defRPr/>
            </a:pPr>
            <a:fld id="{5E750B55-A6E0-4189-B58B-FF0934B895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892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6833" cy="464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9" tIns="46480" rIns="92959" bIns="4648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56550" y="0"/>
            <a:ext cx="3026833" cy="464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9" tIns="46480" rIns="92959" bIns="4648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157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8500" y="4409758"/>
            <a:ext cx="5588000" cy="4177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9" tIns="46480" rIns="92959" bIns="464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7904"/>
            <a:ext cx="3026833" cy="464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9" tIns="46480" rIns="92959" bIns="4648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6550" y="8817904"/>
            <a:ext cx="3026833" cy="464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9" tIns="46480" rIns="92959" bIns="4648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/>
            </a:lvl1pPr>
          </a:lstStyle>
          <a:p>
            <a:pPr>
              <a:defRPr/>
            </a:pPr>
            <a:fld id="{7704CFBB-D1DD-4069-90B0-CC2DF46B95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336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5292" indent="-29049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1988" indent="-23239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26784" indent="-23239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1580" indent="-23239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56376" indent="-23239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1171" indent="-23239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85966" indent="-23239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50762" indent="-23239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F2B3872-1807-4DB0-9A8E-A41DE70B4A3D}" type="slidenum">
              <a:rPr lang="en-US" sz="1300">
                <a:solidFill>
                  <a:srgbClr val="000000"/>
                </a:solidFill>
              </a:rPr>
              <a:pPr/>
              <a:t>9</a:t>
            </a:fld>
            <a:endParaRPr lang="en-US" sz="1300">
              <a:solidFill>
                <a:srgbClr val="000000"/>
              </a:solidFill>
            </a:endParaRPr>
          </a:p>
        </p:txBody>
      </p:sp>
      <p:sp>
        <p:nvSpPr>
          <p:cNvPr id="78851" name="Rectangle 7"/>
          <p:cNvSpPr txBox="1">
            <a:spLocks noGrp="1" noChangeArrowheads="1"/>
          </p:cNvSpPr>
          <p:nvPr/>
        </p:nvSpPr>
        <p:spPr bwMode="auto">
          <a:xfrm>
            <a:off x="3956550" y="8817904"/>
            <a:ext cx="3026833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951" tIns="46475" rIns="92951" bIns="46475"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fld id="{9E3E36EC-0C8C-4A06-BF7D-F65CCDD83C71}" type="slidenum">
              <a:rPr lang="en-US" sz="1300">
                <a:solidFill>
                  <a:srgbClr val="000000"/>
                </a:solidFill>
                <a:latin typeface="Calibri" pitchFamily="34" charset="0"/>
              </a:rPr>
              <a:pPr algn="r" eaLnBrk="1" hangingPunct="1"/>
              <a:t>9</a:t>
            </a:fld>
            <a:endParaRPr lang="en-US" sz="13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788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55292" indent="-29049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61988" indent="-23239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26784" indent="-23239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91580" indent="-23239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56376" indent="-23239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21171" indent="-23239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85966" indent="-23239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50762" indent="-23239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CE6F279-4A54-40CC-802E-C2417CF58C68}" type="slidenum">
              <a:rPr lang="en-US" sz="1300">
                <a:solidFill>
                  <a:srgbClr val="000000"/>
                </a:solidFill>
              </a:rPr>
              <a:pPr/>
              <a:t>11</a:t>
            </a:fld>
            <a:endParaRPr lang="en-US" sz="1300">
              <a:solidFill>
                <a:srgbClr val="000000"/>
              </a:solidFill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Why normalization: look at line equation: rho</a:t>
            </a:r>
            <a:r>
              <a:rPr lang="en-US" baseline="0" dirty="0" smtClean="0"/>
              <a:t> = </a:t>
            </a:r>
            <a:r>
              <a:rPr lang="en-US" baseline="0" dirty="0" err="1" smtClean="0"/>
              <a:t>xcos</a:t>
            </a:r>
            <a:r>
              <a:rPr lang="en-US" baseline="0" dirty="0" smtClean="0"/>
              <a:t>(phi)+</a:t>
            </a:r>
            <a:r>
              <a:rPr lang="en-US" baseline="0" dirty="0" err="1" smtClean="0"/>
              <a:t>ysin</a:t>
            </a:r>
            <a:r>
              <a:rPr lang="en-US" baseline="0" dirty="0" smtClean="0"/>
              <a:t>(phi) -&gt; cos2 + sin2 = 1 -&gt; normal form of 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4CFBB-D1DD-4069-90B0-CC2DF46B9589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98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 userDrawn="1"/>
        </p:nvSpPr>
        <p:spPr bwMode="auto">
          <a:xfrm>
            <a:off x="0" y="0"/>
            <a:ext cx="1524000" cy="6858000"/>
          </a:xfrm>
          <a:prstGeom prst="rect">
            <a:avLst/>
          </a:prstGeom>
          <a:solidFill>
            <a:srgbClr val="FE4B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" name="Picture 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563563"/>
            <a:ext cx="1304925" cy="145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76388" y="2130425"/>
            <a:ext cx="7469187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54238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6508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461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097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447800"/>
            <a:ext cx="36195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95900" y="1447800"/>
            <a:ext cx="36195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1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17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49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34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880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751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9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67550" y="381000"/>
            <a:ext cx="184785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381000"/>
            <a:ext cx="539115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30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97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19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5965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67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717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639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385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44719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11386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95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86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381000"/>
            <a:ext cx="7391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447800"/>
            <a:ext cx="73914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7"/>
          <p:cNvSpPr>
            <a:spLocks noChangeArrowheads="1"/>
          </p:cNvSpPr>
          <p:nvPr userDrawn="1"/>
        </p:nvSpPr>
        <p:spPr bwMode="auto">
          <a:xfrm>
            <a:off x="0" y="0"/>
            <a:ext cx="1524000" cy="6858000"/>
          </a:xfrm>
          <a:prstGeom prst="rect">
            <a:avLst/>
          </a:prstGeom>
          <a:solidFill>
            <a:srgbClr val="FE4B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29" name="Picture 1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3" y="396875"/>
            <a:ext cx="1236662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cf.edu/courses/cap6411/cap5415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i.sri.com/~luong/research/Meta3DViewer/EpipolarGeo.html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://www.ai.sri.com/~luong/research/Meta3DViewer/EpipolarGeo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9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39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8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35.wmf"/><Relationship Id="rId4" Type="http://schemas.openxmlformats.org/officeDocument/2006/relationships/image" Target="../media/image32.e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37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46.wmf"/><Relationship Id="rId26" Type="http://schemas.openxmlformats.org/officeDocument/2006/relationships/oleObject" Target="../embeddings/oleObject25.bin"/><Relationship Id="rId3" Type="http://schemas.openxmlformats.org/officeDocument/2006/relationships/oleObject" Target="../embeddings/oleObject13.bin"/><Relationship Id="rId21" Type="http://schemas.openxmlformats.org/officeDocument/2006/relationships/oleObject" Target="../embeddings/oleObject22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20.bin"/><Relationship Id="rId25" Type="http://schemas.openxmlformats.org/officeDocument/2006/relationships/image" Target="../media/image49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5.wmf"/><Relationship Id="rId20" Type="http://schemas.openxmlformats.org/officeDocument/2006/relationships/image" Target="../media/image47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17.bin"/><Relationship Id="rId24" Type="http://schemas.openxmlformats.org/officeDocument/2006/relationships/oleObject" Target="../embeddings/oleObject24.bin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23" Type="http://schemas.openxmlformats.org/officeDocument/2006/relationships/oleObject" Target="../embeddings/oleObject23.bin"/><Relationship Id="rId10" Type="http://schemas.openxmlformats.org/officeDocument/2006/relationships/image" Target="../media/image42.wmf"/><Relationship Id="rId19" Type="http://schemas.openxmlformats.org/officeDocument/2006/relationships/oleObject" Target="../embeddings/oleObject21.bin"/><Relationship Id="rId4" Type="http://schemas.openxmlformats.org/officeDocument/2006/relationships/image" Target="../media/image30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44.wmf"/><Relationship Id="rId22" Type="http://schemas.openxmlformats.org/officeDocument/2006/relationships/image" Target="../media/image48.wmf"/><Relationship Id="rId27" Type="http://schemas.openxmlformats.org/officeDocument/2006/relationships/image" Target="../media/image50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53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2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53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95400" y="1012825"/>
            <a:ext cx="7772400" cy="1470025"/>
          </a:xfrm>
        </p:spPr>
        <p:txBody>
          <a:bodyPr/>
          <a:lstStyle/>
          <a:p>
            <a:r>
              <a:rPr lang="en-US" dirty="0" smtClean="0"/>
              <a:t>Multi-View Geometry</a:t>
            </a:r>
            <a:br>
              <a:rPr lang="en-US" dirty="0" smtClean="0"/>
            </a:br>
            <a:r>
              <a:rPr lang="en-US" dirty="0" smtClean="0"/>
              <a:t>Part II</a:t>
            </a:r>
            <a:br>
              <a:rPr lang="en-US" dirty="0" smtClean="0"/>
            </a:br>
            <a:r>
              <a:rPr lang="en-US" dirty="0" smtClean="0"/>
              <a:t>(Ch7 New book.</a:t>
            </a:r>
            <a:br>
              <a:rPr lang="en-US" dirty="0" smtClean="0"/>
            </a:br>
            <a:r>
              <a:rPr lang="en-US" dirty="0" err="1" smtClean="0"/>
              <a:t>Ch</a:t>
            </a:r>
            <a:r>
              <a:rPr lang="en-US" dirty="0" smtClean="0"/>
              <a:t> 10/11 old book)</a:t>
            </a:r>
          </a:p>
        </p:txBody>
      </p:sp>
      <p:sp>
        <p:nvSpPr>
          <p:cNvPr id="4099" name="Subtitle 6"/>
          <p:cNvSpPr>
            <a:spLocks noGrp="1"/>
          </p:cNvSpPr>
          <p:nvPr>
            <p:ph type="subTitle" idx="1"/>
          </p:nvPr>
        </p:nvSpPr>
        <p:spPr>
          <a:xfrm>
            <a:off x="1676400" y="5791200"/>
            <a:ext cx="7191375" cy="762000"/>
          </a:xfrm>
        </p:spPr>
        <p:txBody>
          <a:bodyPr/>
          <a:lstStyle/>
          <a:p>
            <a:pPr algn="l"/>
            <a:r>
              <a:rPr lang="en-US" sz="1600" smtClean="0">
                <a:solidFill>
                  <a:srgbClr val="0070C0"/>
                </a:solidFill>
                <a:latin typeface="Arial" charset="0"/>
                <a:cs typeface="Arial" charset="0"/>
              </a:rPr>
              <a:t>Credits: M. Shah, UCF CAP5415, lecture 23 </a:t>
            </a:r>
          </a:p>
          <a:p>
            <a:pPr algn="l"/>
            <a:r>
              <a:rPr lang="en-US" sz="1600" smtClean="0">
                <a:solidFill>
                  <a:srgbClr val="0070C0"/>
                </a:solidFill>
                <a:latin typeface="Arial" charset="0"/>
                <a:cs typeface="Arial" charset="0"/>
                <a:hlinkClick r:id="rId2"/>
              </a:rPr>
              <a:t>http://www.cs.ucf.edu/courses/cap6411/cap5415/</a:t>
            </a:r>
            <a:r>
              <a:rPr lang="en-US" sz="1600" smtClean="0">
                <a:solidFill>
                  <a:srgbClr val="0070C0"/>
                </a:solidFill>
                <a:latin typeface="Arial" charset="0"/>
                <a:cs typeface="Arial" charset="0"/>
              </a:rPr>
              <a:t>, Trevor Darrell, Berkeley, C280, Marc Pollefeys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54238" y="3048000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sz="2600" kern="0" dirty="0">
                <a:latin typeface="+mn-lt"/>
              </a:rPr>
              <a:t>Guido </a:t>
            </a:r>
            <a:r>
              <a:rPr lang="en-US" sz="2600" kern="0" dirty="0" err="1">
                <a:latin typeface="+mn-lt"/>
              </a:rPr>
              <a:t>Gerig</a:t>
            </a:r>
            <a:endParaRPr lang="en-US" sz="2600" kern="0" dirty="0">
              <a:latin typeface="+mn-lt"/>
            </a:endParaRPr>
          </a:p>
          <a:p>
            <a:pPr algn="ctr">
              <a:spcBef>
                <a:spcPct val="20000"/>
              </a:spcBef>
              <a:defRPr/>
            </a:pPr>
            <a:r>
              <a:rPr lang="en-US" sz="2600" kern="0" dirty="0">
                <a:latin typeface="+mn-lt"/>
              </a:rPr>
              <a:t>CS 6320 Spring 2012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Multi-View Geometry</a:t>
            </a:r>
          </a:p>
        </p:txBody>
      </p:sp>
      <p:sp>
        <p:nvSpPr>
          <p:cNvPr id="29699" name="Text Box 5"/>
          <p:cNvSpPr txBox="1">
            <a:spLocks noChangeArrowheads="1"/>
          </p:cNvSpPr>
          <p:nvPr/>
        </p:nvSpPr>
        <p:spPr bwMode="auto">
          <a:xfrm>
            <a:off x="1587500" y="1612900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Relates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1606550" y="1517650"/>
            <a:ext cx="5108575" cy="1247775"/>
            <a:chOff x="1012" y="929"/>
            <a:chExt cx="3218" cy="786"/>
          </a:xfrm>
        </p:grpSpPr>
        <p:sp>
          <p:nvSpPr>
            <p:cNvPr id="29715" name="Text Box 6"/>
            <p:cNvSpPr txBox="1">
              <a:spLocks noChangeArrowheads="1"/>
            </p:cNvSpPr>
            <p:nvPr/>
          </p:nvSpPr>
          <p:spPr bwMode="auto">
            <a:xfrm>
              <a:off x="1012" y="1427"/>
              <a:ext cx="15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en-US"/>
                <a:t> 3D World Points</a:t>
              </a:r>
            </a:p>
          </p:txBody>
        </p:sp>
        <p:sp>
          <p:nvSpPr>
            <p:cNvPr id="29716" name="Oval 12"/>
            <p:cNvSpPr>
              <a:spLocks noChangeArrowheads="1"/>
            </p:cNvSpPr>
            <p:nvPr/>
          </p:nvSpPr>
          <p:spPr bwMode="auto">
            <a:xfrm>
              <a:off x="3544" y="1174"/>
              <a:ext cx="72" cy="6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7" name="Oval 13"/>
            <p:cNvSpPr>
              <a:spLocks noChangeArrowheads="1"/>
            </p:cNvSpPr>
            <p:nvPr/>
          </p:nvSpPr>
          <p:spPr bwMode="auto">
            <a:xfrm>
              <a:off x="4158" y="1037"/>
              <a:ext cx="72" cy="6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8" name="Oval 14"/>
            <p:cNvSpPr>
              <a:spLocks noChangeArrowheads="1"/>
            </p:cNvSpPr>
            <p:nvPr/>
          </p:nvSpPr>
          <p:spPr bwMode="auto">
            <a:xfrm>
              <a:off x="3845" y="929"/>
              <a:ext cx="72" cy="6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1600200" y="2995613"/>
            <a:ext cx="6156325" cy="1576387"/>
            <a:chOff x="1008" y="1860"/>
            <a:chExt cx="3878" cy="993"/>
          </a:xfrm>
        </p:grpSpPr>
        <p:sp>
          <p:nvSpPr>
            <p:cNvPr id="29712" name="Text Box 7"/>
            <p:cNvSpPr txBox="1">
              <a:spLocks noChangeArrowheads="1"/>
            </p:cNvSpPr>
            <p:nvPr/>
          </p:nvSpPr>
          <p:spPr bwMode="auto">
            <a:xfrm>
              <a:off x="1008" y="1860"/>
              <a:ext cx="14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en-US"/>
                <a:t> Camera Centers</a:t>
              </a:r>
            </a:p>
          </p:txBody>
        </p:sp>
        <p:sp>
          <p:nvSpPr>
            <p:cNvPr id="29713" name="Oval 15"/>
            <p:cNvSpPr>
              <a:spLocks noChangeArrowheads="1"/>
            </p:cNvSpPr>
            <p:nvPr/>
          </p:nvSpPr>
          <p:spPr bwMode="auto">
            <a:xfrm>
              <a:off x="4814" y="2721"/>
              <a:ext cx="72" cy="65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4" name="Oval 16"/>
            <p:cNvSpPr>
              <a:spLocks noChangeArrowheads="1"/>
            </p:cNvSpPr>
            <p:nvPr/>
          </p:nvSpPr>
          <p:spPr bwMode="auto">
            <a:xfrm>
              <a:off x="3408" y="2788"/>
              <a:ext cx="72" cy="6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1601788" y="1573213"/>
            <a:ext cx="7356475" cy="4370387"/>
            <a:chOff x="1009" y="991"/>
            <a:chExt cx="4634" cy="2753"/>
          </a:xfrm>
        </p:grpSpPr>
        <p:sp>
          <p:nvSpPr>
            <p:cNvPr id="29703" name="Line 22"/>
            <p:cNvSpPr>
              <a:spLocks noChangeShapeType="1"/>
            </p:cNvSpPr>
            <p:nvPr/>
          </p:nvSpPr>
          <p:spPr bwMode="auto">
            <a:xfrm>
              <a:off x="3595" y="1239"/>
              <a:ext cx="1661" cy="2049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04" name="Line 23"/>
            <p:cNvSpPr>
              <a:spLocks noChangeShapeType="1"/>
            </p:cNvSpPr>
            <p:nvPr/>
          </p:nvSpPr>
          <p:spPr bwMode="auto">
            <a:xfrm>
              <a:off x="3887" y="991"/>
              <a:ext cx="1282" cy="2406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05" name="Line 24"/>
            <p:cNvSpPr>
              <a:spLocks noChangeShapeType="1"/>
            </p:cNvSpPr>
            <p:nvPr/>
          </p:nvSpPr>
          <p:spPr bwMode="auto">
            <a:xfrm>
              <a:off x="4215" y="1101"/>
              <a:ext cx="888" cy="2384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06" name="Text Box 9"/>
            <p:cNvSpPr txBox="1">
              <a:spLocks noChangeArrowheads="1"/>
            </p:cNvSpPr>
            <p:nvPr/>
          </p:nvSpPr>
          <p:spPr bwMode="auto">
            <a:xfrm>
              <a:off x="1009" y="2255"/>
              <a:ext cx="18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en-US"/>
                <a:t> Camera Orientations</a:t>
              </a:r>
            </a:p>
          </p:txBody>
        </p:sp>
        <p:sp>
          <p:nvSpPr>
            <p:cNvPr id="29707" name="Line 17"/>
            <p:cNvSpPr>
              <a:spLocks noChangeShapeType="1"/>
            </p:cNvSpPr>
            <p:nvPr/>
          </p:nvSpPr>
          <p:spPr bwMode="auto">
            <a:xfrm flipH="1">
              <a:off x="3158" y="1093"/>
              <a:ext cx="1017" cy="236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08" name="Line 18"/>
            <p:cNvSpPr>
              <a:spLocks noChangeShapeType="1"/>
            </p:cNvSpPr>
            <p:nvPr/>
          </p:nvSpPr>
          <p:spPr bwMode="auto">
            <a:xfrm flipH="1">
              <a:off x="3260" y="991"/>
              <a:ext cx="616" cy="257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09" name="Line 19"/>
            <p:cNvSpPr>
              <a:spLocks noChangeShapeType="1"/>
            </p:cNvSpPr>
            <p:nvPr/>
          </p:nvSpPr>
          <p:spPr bwMode="auto">
            <a:xfrm flipH="1">
              <a:off x="3384" y="1247"/>
              <a:ext cx="187" cy="234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10" name="AutoShape 27"/>
            <p:cNvSpPr>
              <a:spLocks noChangeArrowheads="1"/>
            </p:cNvSpPr>
            <p:nvPr/>
          </p:nvSpPr>
          <p:spPr bwMode="auto">
            <a:xfrm rot="600000">
              <a:off x="2765" y="3285"/>
              <a:ext cx="1041" cy="459"/>
            </a:xfrm>
            <a:prstGeom prst="parallelogram">
              <a:avLst>
                <a:gd name="adj" fmla="val 56699"/>
              </a:avLst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1" name="AutoShape 31"/>
            <p:cNvSpPr>
              <a:spLocks noChangeArrowheads="1"/>
            </p:cNvSpPr>
            <p:nvPr/>
          </p:nvSpPr>
          <p:spPr bwMode="auto">
            <a:xfrm rot="9000000">
              <a:off x="4602" y="3170"/>
              <a:ext cx="1041" cy="459"/>
            </a:xfrm>
            <a:prstGeom prst="parallelogram">
              <a:avLst>
                <a:gd name="adj" fmla="val 56699"/>
              </a:avLst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Multi-View Geometry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1524000" y="1593850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Relates</a:t>
            </a:r>
          </a:p>
        </p:txBody>
      </p:sp>
      <p:grpSp>
        <p:nvGrpSpPr>
          <p:cNvPr id="30724" name="Group 5"/>
          <p:cNvGrpSpPr>
            <a:grpSpLocks/>
          </p:cNvGrpSpPr>
          <p:nvPr/>
        </p:nvGrpSpPr>
        <p:grpSpPr bwMode="auto">
          <a:xfrm>
            <a:off x="1570038" y="1498600"/>
            <a:ext cx="5489575" cy="1247775"/>
            <a:chOff x="772" y="929"/>
            <a:chExt cx="3458" cy="786"/>
          </a:xfrm>
        </p:grpSpPr>
        <p:sp>
          <p:nvSpPr>
            <p:cNvPr id="30748" name="Text Box 6"/>
            <p:cNvSpPr txBox="1">
              <a:spLocks noChangeArrowheads="1"/>
            </p:cNvSpPr>
            <p:nvPr/>
          </p:nvSpPr>
          <p:spPr bwMode="auto">
            <a:xfrm>
              <a:off x="772" y="1427"/>
              <a:ext cx="15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en-US"/>
                <a:t> 3D World Points</a:t>
              </a:r>
            </a:p>
          </p:txBody>
        </p:sp>
        <p:sp>
          <p:nvSpPr>
            <p:cNvPr id="30749" name="Oval 7"/>
            <p:cNvSpPr>
              <a:spLocks noChangeArrowheads="1"/>
            </p:cNvSpPr>
            <p:nvPr/>
          </p:nvSpPr>
          <p:spPr bwMode="auto">
            <a:xfrm>
              <a:off x="3544" y="1174"/>
              <a:ext cx="72" cy="6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0" name="Oval 8"/>
            <p:cNvSpPr>
              <a:spLocks noChangeArrowheads="1"/>
            </p:cNvSpPr>
            <p:nvPr/>
          </p:nvSpPr>
          <p:spPr bwMode="auto">
            <a:xfrm>
              <a:off x="4158" y="1037"/>
              <a:ext cx="72" cy="6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1" name="Oval 9"/>
            <p:cNvSpPr>
              <a:spLocks noChangeArrowheads="1"/>
            </p:cNvSpPr>
            <p:nvPr/>
          </p:nvSpPr>
          <p:spPr bwMode="auto">
            <a:xfrm>
              <a:off x="3845" y="929"/>
              <a:ext cx="72" cy="6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725" name="Group 10"/>
          <p:cNvGrpSpPr>
            <a:grpSpLocks/>
          </p:cNvGrpSpPr>
          <p:nvPr/>
        </p:nvGrpSpPr>
        <p:grpSpPr bwMode="auto">
          <a:xfrm>
            <a:off x="1571625" y="2976563"/>
            <a:ext cx="6529388" cy="1576387"/>
            <a:chOff x="773" y="1860"/>
            <a:chExt cx="4113" cy="993"/>
          </a:xfrm>
        </p:grpSpPr>
        <p:sp>
          <p:nvSpPr>
            <p:cNvPr id="30745" name="Text Box 11"/>
            <p:cNvSpPr txBox="1">
              <a:spLocks noChangeArrowheads="1"/>
            </p:cNvSpPr>
            <p:nvPr/>
          </p:nvSpPr>
          <p:spPr bwMode="auto">
            <a:xfrm>
              <a:off x="773" y="1860"/>
              <a:ext cx="14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en-US"/>
                <a:t> Camera Centers</a:t>
              </a:r>
            </a:p>
          </p:txBody>
        </p:sp>
        <p:sp>
          <p:nvSpPr>
            <p:cNvPr id="30746" name="Oval 12"/>
            <p:cNvSpPr>
              <a:spLocks noChangeArrowheads="1"/>
            </p:cNvSpPr>
            <p:nvPr/>
          </p:nvSpPr>
          <p:spPr bwMode="auto">
            <a:xfrm>
              <a:off x="4814" y="2721"/>
              <a:ext cx="72" cy="65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7" name="Oval 13"/>
            <p:cNvSpPr>
              <a:spLocks noChangeArrowheads="1"/>
            </p:cNvSpPr>
            <p:nvPr/>
          </p:nvSpPr>
          <p:spPr bwMode="auto">
            <a:xfrm>
              <a:off x="3408" y="2788"/>
              <a:ext cx="72" cy="6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726" name="Line 15"/>
          <p:cNvSpPr>
            <a:spLocks noChangeShapeType="1"/>
          </p:cNvSpPr>
          <p:nvPr/>
        </p:nvSpPr>
        <p:spPr bwMode="auto">
          <a:xfrm>
            <a:off x="6049963" y="1966913"/>
            <a:ext cx="2636837" cy="3252787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727" name="Line 16"/>
          <p:cNvSpPr>
            <a:spLocks noChangeShapeType="1"/>
          </p:cNvSpPr>
          <p:nvPr/>
        </p:nvSpPr>
        <p:spPr bwMode="auto">
          <a:xfrm>
            <a:off x="6513513" y="1573213"/>
            <a:ext cx="2035175" cy="3819525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728" name="Line 17"/>
          <p:cNvSpPr>
            <a:spLocks noChangeShapeType="1"/>
          </p:cNvSpPr>
          <p:nvPr/>
        </p:nvSpPr>
        <p:spPr bwMode="auto">
          <a:xfrm>
            <a:off x="7034213" y="1747838"/>
            <a:ext cx="1409700" cy="3784600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729" name="Text Box 18"/>
          <p:cNvSpPr txBox="1">
            <a:spLocks noChangeArrowheads="1"/>
          </p:cNvSpPr>
          <p:nvPr/>
        </p:nvSpPr>
        <p:spPr bwMode="auto">
          <a:xfrm>
            <a:off x="1571625" y="3603625"/>
            <a:ext cx="289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/>
              <a:t> Camera Orientations</a:t>
            </a:r>
          </a:p>
        </p:txBody>
      </p:sp>
      <p:sp>
        <p:nvSpPr>
          <p:cNvPr id="30730" name="Line 19"/>
          <p:cNvSpPr>
            <a:spLocks noChangeShapeType="1"/>
          </p:cNvSpPr>
          <p:nvPr/>
        </p:nvSpPr>
        <p:spPr bwMode="auto">
          <a:xfrm flipH="1">
            <a:off x="5356225" y="1735138"/>
            <a:ext cx="1614488" cy="3751262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731" name="Line 20"/>
          <p:cNvSpPr>
            <a:spLocks noChangeShapeType="1"/>
          </p:cNvSpPr>
          <p:nvPr/>
        </p:nvSpPr>
        <p:spPr bwMode="auto">
          <a:xfrm flipH="1">
            <a:off x="5518150" y="1573213"/>
            <a:ext cx="977900" cy="4086225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732" name="Line 21"/>
          <p:cNvSpPr>
            <a:spLocks noChangeShapeType="1"/>
          </p:cNvSpPr>
          <p:nvPr/>
        </p:nvSpPr>
        <p:spPr bwMode="auto">
          <a:xfrm flipH="1">
            <a:off x="5715000" y="1979613"/>
            <a:ext cx="296863" cy="3725862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30733" name="Group 35"/>
          <p:cNvGrpSpPr>
            <a:grpSpLocks/>
          </p:cNvGrpSpPr>
          <p:nvPr/>
        </p:nvGrpSpPr>
        <p:grpSpPr bwMode="auto">
          <a:xfrm>
            <a:off x="1570038" y="3189288"/>
            <a:ext cx="6988175" cy="1450975"/>
            <a:chOff x="773" y="2009"/>
            <a:chExt cx="4402" cy="914"/>
          </a:xfrm>
        </p:grpSpPr>
        <p:sp>
          <p:nvSpPr>
            <p:cNvPr id="30742" name="Text Box 25"/>
            <p:cNvSpPr txBox="1">
              <a:spLocks noChangeArrowheads="1"/>
            </p:cNvSpPr>
            <p:nvPr/>
          </p:nvSpPr>
          <p:spPr bwMode="auto">
            <a:xfrm>
              <a:off x="773" y="2635"/>
              <a:ext cx="24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en-US"/>
                <a:t> Camera Intrinsic Parameters</a:t>
              </a:r>
            </a:p>
          </p:txBody>
        </p:sp>
        <p:sp>
          <p:nvSpPr>
            <p:cNvPr id="30743" name="AutoShape 33"/>
            <p:cNvSpPr>
              <a:spLocks noChangeArrowheads="1"/>
            </p:cNvSpPr>
            <p:nvPr/>
          </p:nvSpPr>
          <p:spPr bwMode="auto">
            <a:xfrm rot="600000">
              <a:off x="3068" y="2041"/>
              <a:ext cx="1041" cy="459"/>
            </a:xfrm>
            <a:prstGeom prst="parallelogram">
              <a:avLst>
                <a:gd name="adj" fmla="val 56699"/>
              </a:avLst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4" name="AutoShape 34"/>
            <p:cNvSpPr>
              <a:spLocks noChangeArrowheads="1"/>
            </p:cNvSpPr>
            <p:nvPr/>
          </p:nvSpPr>
          <p:spPr bwMode="auto">
            <a:xfrm rot="9000000">
              <a:off x="4134" y="2009"/>
              <a:ext cx="1041" cy="459"/>
            </a:xfrm>
            <a:prstGeom prst="parallelogram">
              <a:avLst>
                <a:gd name="adj" fmla="val 56699"/>
              </a:avLst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1562100" y="3371850"/>
            <a:ext cx="6188075" cy="1962150"/>
            <a:chOff x="767" y="2109"/>
            <a:chExt cx="3898" cy="1236"/>
          </a:xfrm>
        </p:grpSpPr>
        <p:sp>
          <p:nvSpPr>
            <p:cNvPr id="30735" name="Text Box 4"/>
            <p:cNvSpPr txBox="1">
              <a:spLocks noChangeArrowheads="1"/>
            </p:cNvSpPr>
            <p:nvPr/>
          </p:nvSpPr>
          <p:spPr bwMode="auto">
            <a:xfrm>
              <a:off x="767" y="3057"/>
              <a:ext cx="1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en-US"/>
                <a:t> Image Points</a:t>
              </a:r>
            </a:p>
          </p:txBody>
        </p:sp>
        <p:sp>
          <p:nvSpPr>
            <p:cNvPr id="30736" name="Oval 36"/>
            <p:cNvSpPr>
              <a:spLocks noChangeArrowheads="1"/>
            </p:cNvSpPr>
            <p:nvPr/>
          </p:nvSpPr>
          <p:spPr bwMode="auto">
            <a:xfrm>
              <a:off x="3471" y="2151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7" name="Oval 37"/>
            <p:cNvSpPr>
              <a:spLocks noChangeArrowheads="1"/>
            </p:cNvSpPr>
            <p:nvPr/>
          </p:nvSpPr>
          <p:spPr bwMode="auto">
            <a:xfrm>
              <a:off x="3581" y="2109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8" name="Oval 38"/>
            <p:cNvSpPr>
              <a:spLocks noChangeArrowheads="1"/>
            </p:cNvSpPr>
            <p:nvPr/>
          </p:nvSpPr>
          <p:spPr bwMode="auto">
            <a:xfrm>
              <a:off x="3663" y="2219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9" name="Oval 39"/>
            <p:cNvSpPr>
              <a:spLocks noChangeArrowheads="1"/>
            </p:cNvSpPr>
            <p:nvPr/>
          </p:nvSpPr>
          <p:spPr bwMode="auto">
            <a:xfrm>
              <a:off x="4609" y="2203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0" name="Oval 40"/>
            <p:cNvSpPr>
              <a:spLocks noChangeArrowheads="1"/>
            </p:cNvSpPr>
            <p:nvPr/>
          </p:nvSpPr>
          <p:spPr bwMode="auto">
            <a:xfrm>
              <a:off x="4480" y="2153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1" name="Oval 41"/>
            <p:cNvSpPr>
              <a:spLocks noChangeArrowheads="1"/>
            </p:cNvSpPr>
            <p:nvPr/>
          </p:nvSpPr>
          <p:spPr bwMode="auto">
            <a:xfrm>
              <a:off x="4423" y="2271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Stereo</a:t>
            </a:r>
          </a:p>
        </p:txBody>
      </p:sp>
      <p:sp>
        <p:nvSpPr>
          <p:cNvPr id="31747" name="Freeform 3"/>
          <p:cNvSpPr>
            <a:spLocks/>
          </p:cNvSpPr>
          <p:nvPr/>
        </p:nvSpPr>
        <p:spPr bwMode="auto">
          <a:xfrm>
            <a:off x="3295650" y="2300288"/>
            <a:ext cx="1219200" cy="1752600"/>
          </a:xfrm>
          <a:custGeom>
            <a:avLst/>
            <a:gdLst>
              <a:gd name="T0" fmla="*/ 0 w 768"/>
              <a:gd name="T1" fmla="*/ 0 h 1104"/>
              <a:gd name="T2" fmla="*/ 0 w 768"/>
              <a:gd name="T3" fmla="*/ 2147483647 h 1104"/>
              <a:gd name="T4" fmla="*/ 2147483647 w 768"/>
              <a:gd name="T5" fmla="*/ 2147483647 h 1104"/>
              <a:gd name="T6" fmla="*/ 2147483647 w 768"/>
              <a:gd name="T7" fmla="*/ 2147483647 h 1104"/>
              <a:gd name="T8" fmla="*/ 0 w 768"/>
              <a:gd name="T9" fmla="*/ 0 h 1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68"/>
              <a:gd name="T16" fmla="*/ 0 h 1104"/>
              <a:gd name="T17" fmla="*/ 768 w 768"/>
              <a:gd name="T18" fmla="*/ 1104 h 11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68" h="1104">
                <a:moveTo>
                  <a:pt x="0" y="0"/>
                </a:moveTo>
                <a:lnTo>
                  <a:pt x="0" y="720"/>
                </a:lnTo>
                <a:lnTo>
                  <a:pt x="768" y="1104"/>
                </a:lnTo>
                <a:lnTo>
                  <a:pt x="768" y="384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8" name="Freeform 4"/>
          <p:cNvSpPr>
            <a:spLocks/>
          </p:cNvSpPr>
          <p:nvPr/>
        </p:nvSpPr>
        <p:spPr bwMode="auto">
          <a:xfrm flipH="1">
            <a:off x="5962650" y="2300288"/>
            <a:ext cx="1219200" cy="1752600"/>
          </a:xfrm>
          <a:custGeom>
            <a:avLst/>
            <a:gdLst>
              <a:gd name="T0" fmla="*/ 0 w 768"/>
              <a:gd name="T1" fmla="*/ 0 h 1104"/>
              <a:gd name="T2" fmla="*/ 0 w 768"/>
              <a:gd name="T3" fmla="*/ 2147483647 h 1104"/>
              <a:gd name="T4" fmla="*/ 2147483647 w 768"/>
              <a:gd name="T5" fmla="*/ 2147483647 h 1104"/>
              <a:gd name="T6" fmla="*/ 2147483647 w 768"/>
              <a:gd name="T7" fmla="*/ 2147483647 h 1104"/>
              <a:gd name="T8" fmla="*/ 0 w 768"/>
              <a:gd name="T9" fmla="*/ 0 h 1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68"/>
              <a:gd name="T16" fmla="*/ 0 h 1104"/>
              <a:gd name="T17" fmla="*/ 768 w 768"/>
              <a:gd name="T18" fmla="*/ 1104 h 11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68" h="1104">
                <a:moveTo>
                  <a:pt x="0" y="0"/>
                </a:moveTo>
                <a:lnTo>
                  <a:pt x="0" y="720"/>
                </a:lnTo>
                <a:lnTo>
                  <a:pt x="768" y="1104"/>
                </a:lnTo>
                <a:lnTo>
                  <a:pt x="768" y="384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9" name="Oval 5"/>
          <p:cNvSpPr>
            <a:spLocks noChangeArrowheads="1"/>
          </p:cNvSpPr>
          <p:nvPr/>
        </p:nvSpPr>
        <p:spPr bwMode="auto">
          <a:xfrm>
            <a:off x="3143250" y="3671888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>
            <a:off x="6648450" y="3290888"/>
            <a:ext cx="609600" cy="38100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>
            <a:off x="4895850" y="2300288"/>
            <a:ext cx="1752600" cy="990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 flipV="1">
            <a:off x="3829050" y="2300288"/>
            <a:ext cx="106680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 flipV="1">
            <a:off x="3219450" y="3214688"/>
            <a:ext cx="609600" cy="45720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4" name="Oval 10"/>
          <p:cNvSpPr>
            <a:spLocks noChangeArrowheads="1"/>
          </p:cNvSpPr>
          <p:nvPr/>
        </p:nvSpPr>
        <p:spPr bwMode="auto">
          <a:xfrm>
            <a:off x="3752850" y="3214688"/>
            <a:ext cx="76200" cy="762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5" name="Oval 11"/>
          <p:cNvSpPr>
            <a:spLocks noChangeArrowheads="1"/>
          </p:cNvSpPr>
          <p:nvPr/>
        </p:nvSpPr>
        <p:spPr bwMode="auto">
          <a:xfrm>
            <a:off x="6648450" y="3290888"/>
            <a:ext cx="76200" cy="762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6" name="Oval 12"/>
          <p:cNvSpPr>
            <a:spLocks noChangeArrowheads="1"/>
          </p:cNvSpPr>
          <p:nvPr/>
        </p:nvSpPr>
        <p:spPr bwMode="auto">
          <a:xfrm>
            <a:off x="7239000" y="3652838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7" name="Oval 13"/>
          <p:cNvSpPr>
            <a:spLocks noChangeArrowheads="1"/>
          </p:cNvSpPr>
          <p:nvPr/>
        </p:nvSpPr>
        <p:spPr bwMode="auto">
          <a:xfrm>
            <a:off x="4857750" y="2224088"/>
            <a:ext cx="114300" cy="1143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1998" name="Text Box 14"/>
          <p:cNvSpPr txBox="1">
            <a:spLocks noChangeArrowheads="1"/>
          </p:cNvSpPr>
          <p:nvPr/>
        </p:nvSpPr>
        <p:spPr bwMode="auto">
          <a:xfrm>
            <a:off x="4222750" y="1843088"/>
            <a:ext cx="14541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  <a:flatTx/>
          </a:bodyPr>
          <a:lstStyle/>
          <a:p>
            <a:pPr algn="ctr">
              <a:defRPr/>
            </a:pPr>
            <a:r>
              <a:rPr lang="en-US" sz="1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scene point</a:t>
            </a:r>
          </a:p>
        </p:txBody>
      </p:sp>
      <p:sp>
        <p:nvSpPr>
          <p:cNvPr id="681999" name="Text Box 15"/>
          <p:cNvSpPr txBox="1">
            <a:spLocks noChangeArrowheads="1"/>
          </p:cNvSpPr>
          <p:nvPr/>
        </p:nvSpPr>
        <p:spPr bwMode="auto">
          <a:xfrm>
            <a:off x="2209800" y="3824288"/>
            <a:ext cx="16700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  <a:flatTx/>
          </a:bodyPr>
          <a:lstStyle/>
          <a:p>
            <a:pPr algn="ctr">
              <a:defRPr/>
            </a:pPr>
            <a:r>
              <a:rPr lang="en-US" sz="1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optical center</a:t>
            </a:r>
          </a:p>
        </p:txBody>
      </p:sp>
      <p:sp>
        <p:nvSpPr>
          <p:cNvPr id="682000" name="Text Box 16"/>
          <p:cNvSpPr txBox="1">
            <a:spLocks noChangeArrowheads="1"/>
          </p:cNvSpPr>
          <p:nvPr/>
        </p:nvSpPr>
        <p:spPr bwMode="auto">
          <a:xfrm>
            <a:off x="3752850" y="3305175"/>
            <a:ext cx="15049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  <a:flatTx/>
          </a:bodyPr>
          <a:lstStyle/>
          <a:p>
            <a:pPr algn="ctr">
              <a:defRPr/>
            </a:pPr>
            <a:r>
              <a:rPr lang="en-US" sz="1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image plane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Line 2"/>
          <p:cNvSpPr>
            <a:spLocks noChangeShapeType="1"/>
          </p:cNvSpPr>
          <p:nvPr/>
        </p:nvSpPr>
        <p:spPr bwMode="auto">
          <a:xfrm flipH="1" flipV="1">
            <a:off x="3827463" y="2051050"/>
            <a:ext cx="2116137" cy="1225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3011" name="Line 3"/>
          <p:cNvSpPr>
            <a:spLocks noChangeShapeType="1"/>
          </p:cNvSpPr>
          <p:nvPr/>
        </p:nvSpPr>
        <p:spPr bwMode="auto">
          <a:xfrm flipV="1">
            <a:off x="3124200" y="1828800"/>
            <a:ext cx="1524000" cy="1371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Stereo</a:t>
            </a:r>
          </a:p>
        </p:txBody>
      </p:sp>
      <p:sp>
        <p:nvSpPr>
          <p:cNvPr id="32773" name="Freeform 5"/>
          <p:cNvSpPr>
            <a:spLocks/>
          </p:cNvSpPr>
          <p:nvPr/>
        </p:nvSpPr>
        <p:spPr bwMode="auto">
          <a:xfrm>
            <a:off x="2590800" y="2286000"/>
            <a:ext cx="1219200" cy="1752600"/>
          </a:xfrm>
          <a:custGeom>
            <a:avLst/>
            <a:gdLst>
              <a:gd name="T0" fmla="*/ 0 w 768"/>
              <a:gd name="T1" fmla="*/ 0 h 1104"/>
              <a:gd name="T2" fmla="*/ 0 w 768"/>
              <a:gd name="T3" fmla="*/ 2147483647 h 1104"/>
              <a:gd name="T4" fmla="*/ 2147483647 w 768"/>
              <a:gd name="T5" fmla="*/ 2147483647 h 1104"/>
              <a:gd name="T6" fmla="*/ 2147483647 w 768"/>
              <a:gd name="T7" fmla="*/ 2147483647 h 1104"/>
              <a:gd name="T8" fmla="*/ 0 w 768"/>
              <a:gd name="T9" fmla="*/ 0 h 1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68"/>
              <a:gd name="T16" fmla="*/ 0 h 1104"/>
              <a:gd name="T17" fmla="*/ 768 w 768"/>
              <a:gd name="T18" fmla="*/ 1104 h 11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68" h="1104">
                <a:moveTo>
                  <a:pt x="0" y="0"/>
                </a:moveTo>
                <a:lnTo>
                  <a:pt x="0" y="720"/>
                </a:lnTo>
                <a:lnTo>
                  <a:pt x="768" y="1104"/>
                </a:lnTo>
                <a:lnTo>
                  <a:pt x="768" y="384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4" name="Freeform 6"/>
          <p:cNvSpPr>
            <a:spLocks/>
          </p:cNvSpPr>
          <p:nvPr/>
        </p:nvSpPr>
        <p:spPr bwMode="auto">
          <a:xfrm flipH="1">
            <a:off x="5257800" y="2286000"/>
            <a:ext cx="1219200" cy="1752600"/>
          </a:xfrm>
          <a:custGeom>
            <a:avLst/>
            <a:gdLst>
              <a:gd name="T0" fmla="*/ 0 w 768"/>
              <a:gd name="T1" fmla="*/ 0 h 1104"/>
              <a:gd name="T2" fmla="*/ 0 w 768"/>
              <a:gd name="T3" fmla="*/ 2147483647 h 1104"/>
              <a:gd name="T4" fmla="*/ 2147483647 w 768"/>
              <a:gd name="T5" fmla="*/ 2147483647 h 1104"/>
              <a:gd name="T6" fmla="*/ 2147483647 w 768"/>
              <a:gd name="T7" fmla="*/ 2147483647 h 1104"/>
              <a:gd name="T8" fmla="*/ 0 w 768"/>
              <a:gd name="T9" fmla="*/ 0 h 1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68"/>
              <a:gd name="T16" fmla="*/ 0 h 1104"/>
              <a:gd name="T17" fmla="*/ 768 w 768"/>
              <a:gd name="T18" fmla="*/ 1104 h 11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68" h="1104">
                <a:moveTo>
                  <a:pt x="0" y="0"/>
                </a:moveTo>
                <a:lnTo>
                  <a:pt x="0" y="720"/>
                </a:lnTo>
                <a:lnTo>
                  <a:pt x="768" y="1104"/>
                </a:lnTo>
                <a:lnTo>
                  <a:pt x="768" y="384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Oval 7"/>
          <p:cNvSpPr>
            <a:spLocks noChangeArrowheads="1"/>
          </p:cNvSpPr>
          <p:nvPr/>
        </p:nvSpPr>
        <p:spPr bwMode="auto">
          <a:xfrm>
            <a:off x="2438400" y="36576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6" name="Oval 8"/>
          <p:cNvSpPr>
            <a:spLocks noChangeArrowheads="1"/>
          </p:cNvSpPr>
          <p:nvPr/>
        </p:nvSpPr>
        <p:spPr bwMode="auto">
          <a:xfrm>
            <a:off x="3048000" y="3200400"/>
            <a:ext cx="76200" cy="762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7" name="Oval 9"/>
          <p:cNvSpPr>
            <a:spLocks noChangeArrowheads="1"/>
          </p:cNvSpPr>
          <p:nvPr/>
        </p:nvSpPr>
        <p:spPr bwMode="auto">
          <a:xfrm>
            <a:off x="5943600" y="3276600"/>
            <a:ext cx="76200" cy="762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8" name="Oval 10"/>
          <p:cNvSpPr>
            <a:spLocks noChangeArrowheads="1"/>
          </p:cNvSpPr>
          <p:nvPr/>
        </p:nvSpPr>
        <p:spPr bwMode="auto">
          <a:xfrm>
            <a:off x="6534150" y="363855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3019" name="Oval 11"/>
          <p:cNvSpPr>
            <a:spLocks noChangeArrowheads="1"/>
          </p:cNvSpPr>
          <p:nvPr/>
        </p:nvSpPr>
        <p:spPr bwMode="auto">
          <a:xfrm>
            <a:off x="4133850" y="2181225"/>
            <a:ext cx="114300" cy="1143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0" name="Rectangle 12"/>
          <p:cNvSpPr>
            <a:spLocks noChangeArrowheads="1"/>
          </p:cNvSpPr>
          <p:nvPr/>
        </p:nvSpPr>
        <p:spPr bwMode="auto">
          <a:xfrm>
            <a:off x="838200" y="42672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>
                <a:latin typeface="Arial" charset="0"/>
              </a:rPr>
              <a:t>Basic Principle:  Triangulation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>
                <a:latin typeface="Arial" charset="0"/>
              </a:rPr>
              <a:t>Gives reconstruction as intersection of two rays</a:t>
            </a:r>
          </a:p>
        </p:txBody>
      </p:sp>
      <p:sp>
        <p:nvSpPr>
          <p:cNvPr id="683021" name="Rectangle 13"/>
          <p:cNvSpPr>
            <a:spLocks noChangeArrowheads="1"/>
          </p:cNvSpPr>
          <p:nvPr/>
        </p:nvSpPr>
        <p:spPr bwMode="auto">
          <a:xfrm>
            <a:off x="838200" y="5105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>
                <a:latin typeface="Arial" charset="0"/>
              </a:rPr>
              <a:t>Requires </a:t>
            </a:r>
          </a:p>
          <a:p>
            <a:pPr marL="1143000" lvl="2" indent="-228600">
              <a:spcBef>
                <a:spcPct val="20000"/>
              </a:spcBef>
              <a:buFontTx/>
              <a:buChar char="–"/>
            </a:pPr>
            <a:r>
              <a:rPr lang="en-US" sz="1800">
                <a:solidFill>
                  <a:schemeClr val="tx2"/>
                </a:solidFill>
                <a:latin typeface="Arial" charset="0"/>
              </a:rPr>
              <a:t>calibration</a:t>
            </a:r>
          </a:p>
          <a:p>
            <a:pPr marL="1143000" lvl="2" indent="-228600">
              <a:spcBef>
                <a:spcPct val="20000"/>
              </a:spcBef>
              <a:buFontTx/>
              <a:buChar char="–"/>
            </a:pPr>
            <a:r>
              <a:rPr lang="en-US" sz="1800" b="1" i="1">
                <a:solidFill>
                  <a:schemeClr val="tx2"/>
                </a:solidFill>
                <a:latin typeface="Arial" charset="0"/>
              </a:rPr>
              <a:t>point correspondence</a:t>
            </a:r>
            <a:endParaRPr lang="en-US" sz="1800" b="1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10" grpId="0" animBg="1"/>
      <p:bldP spid="683011" grpId="0" animBg="1"/>
      <p:bldP spid="683019" grpId="0" animBg="1"/>
      <p:bldP spid="683021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Stereo Constraints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1319213" y="1898650"/>
            <a:ext cx="2627312" cy="147002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5175250" y="1889125"/>
            <a:ext cx="2627313" cy="147002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7" name="Oval 5"/>
          <p:cNvSpPr>
            <a:spLocks noChangeArrowheads="1"/>
          </p:cNvSpPr>
          <p:nvPr/>
        </p:nvSpPr>
        <p:spPr bwMode="auto">
          <a:xfrm>
            <a:off x="2767013" y="2419350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Text Box 7"/>
          <p:cNvSpPr txBox="1">
            <a:spLocks noChangeArrowheads="1"/>
          </p:cNvSpPr>
          <p:nvPr/>
        </p:nvSpPr>
        <p:spPr bwMode="auto">
          <a:xfrm>
            <a:off x="2859088" y="23225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33799" name="Text Box 9"/>
          <p:cNvSpPr txBox="1">
            <a:spLocks noChangeArrowheads="1"/>
          </p:cNvSpPr>
          <p:nvPr/>
        </p:nvSpPr>
        <p:spPr bwMode="auto">
          <a:xfrm>
            <a:off x="6205538" y="2243138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folHlink"/>
                </a:solidFill>
              </a:rPr>
              <a:t>p’</a:t>
            </a:r>
          </a:p>
        </p:txBody>
      </p:sp>
      <p:sp>
        <p:nvSpPr>
          <p:cNvPr id="33800" name="Text Box 11"/>
          <p:cNvSpPr txBox="1">
            <a:spLocks noChangeArrowheads="1"/>
          </p:cNvSpPr>
          <p:nvPr/>
        </p:nvSpPr>
        <p:spPr bwMode="auto">
          <a:xfrm>
            <a:off x="6494463" y="2300288"/>
            <a:ext cx="31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chemeClr val="folHlink"/>
                </a:solidFill>
              </a:rPr>
              <a:t>?</a:t>
            </a:r>
          </a:p>
        </p:txBody>
      </p:sp>
      <p:sp>
        <p:nvSpPr>
          <p:cNvPr id="33801" name="Text Box 12"/>
          <p:cNvSpPr txBox="1">
            <a:spLocks noChangeArrowheads="1"/>
          </p:cNvSpPr>
          <p:nvPr/>
        </p:nvSpPr>
        <p:spPr bwMode="auto">
          <a:xfrm>
            <a:off x="1216025" y="3943350"/>
            <a:ext cx="74644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Given p in left image, where can the corresponding point p’</a:t>
            </a:r>
            <a:br>
              <a:rPr lang="en-US"/>
            </a:br>
            <a:r>
              <a:rPr lang="en-US"/>
              <a:t>in right image be?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Stereo Constraints</a:t>
            </a:r>
          </a:p>
        </p:txBody>
      </p:sp>
      <p:sp>
        <p:nvSpPr>
          <p:cNvPr id="35843" name="Line 3"/>
          <p:cNvSpPr>
            <a:spLocks noChangeShapeType="1"/>
          </p:cNvSpPr>
          <p:nvPr/>
        </p:nvSpPr>
        <p:spPr bwMode="auto">
          <a:xfrm>
            <a:off x="1968500" y="1573213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44" name="Line 7"/>
          <p:cNvSpPr>
            <a:spLocks noChangeShapeType="1"/>
          </p:cNvSpPr>
          <p:nvPr/>
        </p:nvSpPr>
        <p:spPr bwMode="auto">
          <a:xfrm>
            <a:off x="1189038" y="2930525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45" name="Line 8"/>
          <p:cNvSpPr>
            <a:spLocks noChangeShapeType="1"/>
          </p:cNvSpPr>
          <p:nvPr/>
        </p:nvSpPr>
        <p:spPr bwMode="auto">
          <a:xfrm>
            <a:off x="1189038" y="2930525"/>
            <a:ext cx="10668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46" name="Line 9"/>
          <p:cNvSpPr>
            <a:spLocks noChangeShapeType="1"/>
          </p:cNvSpPr>
          <p:nvPr/>
        </p:nvSpPr>
        <p:spPr bwMode="auto">
          <a:xfrm>
            <a:off x="1189038" y="4378325"/>
            <a:ext cx="10668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47" name="Line 10"/>
          <p:cNvSpPr>
            <a:spLocks noChangeShapeType="1"/>
          </p:cNvSpPr>
          <p:nvPr/>
        </p:nvSpPr>
        <p:spPr bwMode="auto">
          <a:xfrm>
            <a:off x="2235200" y="3519488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48" name="Line 11"/>
          <p:cNvSpPr>
            <a:spLocks noChangeShapeType="1"/>
          </p:cNvSpPr>
          <p:nvPr/>
        </p:nvSpPr>
        <p:spPr bwMode="auto">
          <a:xfrm>
            <a:off x="1601788" y="2867025"/>
            <a:ext cx="0" cy="1000125"/>
          </a:xfrm>
          <a:prstGeom prst="line">
            <a:avLst/>
          </a:prstGeom>
          <a:noFill/>
          <a:ln w="9525">
            <a:solidFill>
              <a:srgbClr val="0F29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49" name="Line 12"/>
          <p:cNvSpPr>
            <a:spLocks noChangeShapeType="1"/>
          </p:cNvSpPr>
          <p:nvPr/>
        </p:nvSpPr>
        <p:spPr bwMode="auto">
          <a:xfrm>
            <a:off x="1620838" y="3881438"/>
            <a:ext cx="823912" cy="452437"/>
          </a:xfrm>
          <a:prstGeom prst="line">
            <a:avLst/>
          </a:prstGeom>
          <a:noFill/>
          <a:ln w="9525">
            <a:solidFill>
              <a:srgbClr val="0F29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50" name="Line 13"/>
          <p:cNvSpPr>
            <a:spLocks noChangeShapeType="1"/>
          </p:cNvSpPr>
          <p:nvPr/>
        </p:nvSpPr>
        <p:spPr bwMode="auto">
          <a:xfrm flipH="1">
            <a:off x="0" y="3881438"/>
            <a:ext cx="1587500" cy="307975"/>
          </a:xfrm>
          <a:prstGeom prst="line">
            <a:avLst/>
          </a:prstGeom>
          <a:noFill/>
          <a:ln w="9525">
            <a:solidFill>
              <a:srgbClr val="0F29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51" name="Line 16"/>
          <p:cNvSpPr>
            <a:spLocks noChangeShapeType="1"/>
          </p:cNvSpPr>
          <p:nvPr/>
        </p:nvSpPr>
        <p:spPr bwMode="auto">
          <a:xfrm flipH="1">
            <a:off x="1630363" y="1262063"/>
            <a:ext cx="3568700" cy="2608262"/>
          </a:xfrm>
          <a:prstGeom prst="line">
            <a:avLst/>
          </a:prstGeom>
          <a:noFill/>
          <a:ln w="9525">
            <a:solidFill>
              <a:srgbClr val="2B713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52" name="Text Box 17"/>
          <p:cNvSpPr txBox="1">
            <a:spLocks noChangeArrowheads="1"/>
          </p:cNvSpPr>
          <p:nvPr/>
        </p:nvSpPr>
        <p:spPr bwMode="auto">
          <a:xfrm>
            <a:off x="2524125" y="4127500"/>
            <a:ext cx="506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>
                <a:solidFill>
                  <a:srgbClr val="0F2995"/>
                </a:solidFill>
                <a:cs typeface="Times New Roman" pitchFamily="18" charset="0"/>
              </a:rPr>
              <a:t>X</a:t>
            </a:r>
            <a:r>
              <a:rPr kumimoji="1" lang="en-US" baseline="-25000">
                <a:solidFill>
                  <a:srgbClr val="0F2995"/>
                </a:solidFill>
                <a:cs typeface="Times New Roman" pitchFamily="18" charset="0"/>
              </a:rPr>
              <a:t>1</a:t>
            </a:r>
            <a:endParaRPr kumimoji="1" lang="en-US">
              <a:solidFill>
                <a:srgbClr val="0F2995"/>
              </a:solidFill>
              <a:cs typeface="Times New Roman" pitchFamily="18" charset="0"/>
            </a:endParaRPr>
          </a:p>
        </p:txBody>
      </p:sp>
      <p:sp>
        <p:nvSpPr>
          <p:cNvPr id="35853" name="Text Box 18"/>
          <p:cNvSpPr txBox="1">
            <a:spLocks noChangeArrowheads="1"/>
          </p:cNvSpPr>
          <p:nvPr/>
        </p:nvSpPr>
        <p:spPr bwMode="auto">
          <a:xfrm>
            <a:off x="1562100" y="2679700"/>
            <a:ext cx="506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>
                <a:solidFill>
                  <a:srgbClr val="0F2995"/>
                </a:solidFill>
                <a:cs typeface="Times New Roman" pitchFamily="18" charset="0"/>
              </a:rPr>
              <a:t>Y</a:t>
            </a:r>
            <a:r>
              <a:rPr kumimoji="1" lang="en-US" baseline="-25000">
                <a:solidFill>
                  <a:srgbClr val="0F2995"/>
                </a:solidFill>
                <a:cs typeface="Times New Roman" pitchFamily="18" charset="0"/>
              </a:rPr>
              <a:t>1</a:t>
            </a:r>
            <a:endParaRPr kumimoji="1" lang="en-US">
              <a:solidFill>
                <a:srgbClr val="0F2995"/>
              </a:solidFill>
              <a:cs typeface="Times New Roman" pitchFamily="18" charset="0"/>
            </a:endParaRPr>
          </a:p>
        </p:txBody>
      </p:sp>
      <p:sp>
        <p:nvSpPr>
          <p:cNvPr id="35854" name="Text Box 19"/>
          <p:cNvSpPr txBox="1">
            <a:spLocks noChangeArrowheads="1"/>
          </p:cNvSpPr>
          <p:nvPr/>
        </p:nvSpPr>
        <p:spPr bwMode="auto">
          <a:xfrm>
            <a:off x="111125" y="4106863"/>
            <a:ext cx="471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>
                <a:solidFill>
                  <a:srgbClr val="0F2995"/>
                </a:solidFill>
                <a:cs typeface="Times New Roman" pitchFamily="18" charset="0"/>
              </a:rPr>
              <a:t>Z</a:t>
            </a:r>
            <a:r>
              <a:rPr kumimoji="1" lang="en-US" baseline="-25000">
                <a:solidFill>
                  <a:srgbClr val="0F2995"/>
                </a:solidFill>
                <a:cs typeface="Times New Roman" pitchFamily="18" charset="0"/>
              </a:rPr>
              <a:t>1</a:t>
            </a:r>
            <a:endParaRPr kumimoji="1" lang="en-US">
              <a:solidFill>
                <a:srgbClr val="0F2995"/>
              </a:solidFill>
              <a:cs typeface="Times New Roman" pitchFamily="18" charset="0"/>
            </a:endParaRPr>
          </a:p>
        </p:txBody>
      </p:sp>
      <p:sp>
        <p:nvSpPr>
          <p:cNvPr id="35855" name="Text Box 20"/>
          <p:cNvSpPr txBox="1">
            <a:spLocks noChangeArrowheads="1"/>
          </p:cNvSpPr>
          <p:nvPr/>
        </p:nvSpPr>
        <p:spPr bwMode="auto">
          <a:xfrm>
            <a:off x="1463675" y="3916363"/>
            <a:ext cx="509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>
                <a:solidFill>
                  <a:srgbClr val="FF1D17"/>
                </a:solidFill>
                <a:cs typeface="Times New Roman" pitchFamily="18" charset="0"/>
              </a:rPr>
              <a:t>O</a:t>
            </a:r>
            <a:r>
              <a:rPr kumimoji="1" lang="en-US" baseline="-25000">
                <a:solidFill>
                  <a:srgbClr val="FF1D17"/>
                </a:solidFill>
                <a:cs typeface="Times New Roman" pitchFamily="18" charset="0"/>
              </a:rPr>
              <a:t>1</a:t>
            </a:r>
            <a:endParaRPr kumimoji="1" lang="en-US">
              <a:solidFill>
                <a:srgbClr val="FF1D17"/>
              </a:solidFill>
              <a:cs typeface="Times New Roman" pitchFamily="18" charset="0"/>
            </a:endParaRPr>
          </a:p>
        </p:txBody>
      </p:sp>
      <p:sp>
        <p:nvSpPr>
          <p:cNvPr id="35856" name="Text Box 21"/>
          <p:cNvSpPr txBox="1">
            <a:spLocks noChangeArrowheads="1"/>
          </p:cNvSpPr>
          <p:nvPr/>
        </p:nvSpPr>
        <p:spPr bwMode="auto">
          <a:xfrm>
            <a:off x="2317750" y="1317625"/>
            <a:ext cx="1679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>
                <a:cs typeface="Times New Roman" pitchFamily="18" charset="0"/>
              </a:rPr>
              <a:t>Image plane</a:t>
            </a:r>
          </a:p>
        </p:txBody>
      </p:sp>
      <p:sp>
        <p:nvSpPr>
          <p:cNvPr id="35857" name="Text Box 22"/>
          <p:cNvSpPr txBox="1">
            <a:spLocks noChangeArrowheads="1"/>
          </p:cNvSpPr>
          <p:nvPr/>
        </p:nvSpPr>
        <p:spPr bwMode="auto">
          <a:xfrm>
            <a:off x="1968500" y="5068888"/>
            <a:ext cx="1595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>
                <a:cs typeface="Times New Roman" pitchFamily="18" charset="0"/>
              </a:rPr>
              <a:t>Focal plane</a:t>
            </a:r>
          </a:p>
        </p:txBody>
      </p:sp>
      <p:sp>
        <p:nvSpPr>
          <p:cNvPr id="35858" name="Text Box 23"/>
          <p:cNvSpPr txBox="1">
            <a:spLocks noChangeArrowheads="1"/>
          </p:cNvSpPr>
          <p:nvPr/>
        </p:nvSpPr>
        <p:spPr bwMode="auto">
          <a:xfrm>
            <a:off x="5176838" y="976313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>
                <a:solidFill>
                  <a:srgbClr val="2B7130"/>
                </a:solidFill>
                <a:cs typeface="Times New Roman" pitchFamily="18" charset="0"/>
              </a:rPr>
              <a:t>M</a:t>
            </a:r>
          </a:p>
        </p:txBody>
      </p:sp>
      <p:sp>
        <p:nvSpPr>
          <p:cNvPr id="35859" name="Text Box 28"/>
          <p:cNvSpPr txBox="1">
            <a:spLocks noChangeArrowheads="1"/>
          </p:cNvSpPr>
          <p:nvPr/>
        </p:nvSpPr>
        <p:spPr bwMode="auto">
          <a:xfrm>
            <a:off x="2936875" y="27384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>
                <a:solidFill>
                  <a:srgbClr val="FF1D17"/>
                </a:solidFill>
                <a:cs typeface="Times New Roman" pitchFamily="18" charset="0"/>
              </a:rPr>
              <a:t>p</a:t>
            </a:r>
          </a:p>
        </p:txBody>
      </p:sp>
      <p:sp>
        <p:nvSpPr>
          <p:cNvPr id="35860" name="Oval 58"/>
          <p:cNvSpPr>
            <a:spLocks noChangeArrowheads="1"/>
          </p:cNvSpPr>
          <p:nvPr/>
        </p:nvSpPr>
        <p:spPr bwMode="auto">
          <a:xfrm>
            <a:off x="2909888" y="2849563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85"/>
          <p:cNvGrpSpPr>
            <a:grpSpLocks/>
          </p:cNvGrpSpPr>
          <p:nvPr/>
        </p:nvGrpSpPr>
        <p:grpSpPr bwMode="auto">
          <a:xfrm>
            <a:off x="5200650" y="1258888"/>
            <a:ext cx="2244725" cy="3609975"/>
            <a:chOff x="3276" y="793"/>
            <a:chExt cx="1414" cy="2274"/>
          </a:xfrm>
        </p:grpSpPr>
        <p:sp>
          <p:nvSpPr>
            <p:cNvPr id="35907" name="Line 57"/>
            <p:cNvSpPr>
              <a:spLocks noChangeShapeType="1"/>
            </p:cNvSpPr>
            <p:nvPr/>
          </p:nvSpPr>
          <p:spPr bwMode="auto">
            <a:xfrm>
              <a:off x="3276" y="793"/>
              <a:ext cx="1414" cy="227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5908" name="Oval 59"/>
            <p:cNvSpPr>
              <a:spLocks noChangeArrowheads="1"/>
            </p:cNvSpPr>
            <p:nvPr/>
          </p:nvSpPr>
          <p:spPr bwMode="auto">
            <a:xfrm>
              <a:off x="4017" y="2005"/>
              <a:ext cx="56" cy="56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chemeClr val="folHlink"/>
                </a:solidFill>
              </a:endParaRPr>
            </a:p>
          </p:txBody>
        </p:sp>
        <p:sp>
          <p:nvSpPr>
            <p:cNvPr id="35909" name="Text Box 60"/>
            <p:cNvSpPr txBox="1">
              <a:spLocks noChangeArrowheads="1"/>
            </p:cNvSpPr>
            <p:nvPr/>
          </p:nvSpPr>
          <p:spPr bwMode="auto">
            <a:xfrm>
              <a:off x="4100" y="1829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kumimoji="1" lang="en-US">
                  <a:solidFill>
                    <a:schemeClr val="folHlink"/>
                  </a:solidFill>
                  <a:cs typeface="Times New Roman" pitchFamily="18" charset="0"/>
                </a:rPr>
                <a:t>p’</a:t>
              </a:r>
            </a:p>
          </p:txBody>
        </p:sp>
      </p:grpSp>
      <p:sp>
        <p:nvSpPr>
          <p:cNvPr id="35862" name="Line 63"/>
          <p:cNvSpPr>
            <a:spLocks noChangeShapeType="1"/>
          </p:cNvSpPr>
          <p:nvPr/>
        </p:nvSpPr>
        <p:spPr bwMode="auto">
          <a:xfrm>
            <a:off x="1976438" y="1579563"/>
            <a:ext cx="2349500" cy="11080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63" name="Line 64"/>
          <p:cNvSpPr>
            <a:spLocks noChangeShapeType="1"/>
          </p:cNvSpPr>
          <p:nvPr/>
        </p:nvSpPr>
        <p:spPr bwMode="auto">
          <a:xfrm>
            <a:off x="1973263" y="3027363"/>
            <a:ext cx="2349500" cy="11080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64" name="Line 65"/>
          <p:cNvSpPr>
            <a:spLocks noChangeShapeType="1"/>
          </p:cNvSpPr>
          <p:nvPr/>
        </p:nvSpPr>
        <p:spPr bwMode="auto">
          <a:xfrm>
            <a:off x="4305300" y="268605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3" name="Group 97"/>
          <p:cNvGrpSpPr>
            <a:grpSpLocks/>
          </p:cNvGrpSpPr>
          <p:nvPr/>
        </p:nvGrpSpPr>
        <p:grpSpPr bwMode="auto">
          <a:xfrm>
            <a:off x="5105400" y="2166938"/>
            <a:ext cx="3836988" cy="3592512"/>
            <a:chOff x="3216" y="1365"/>
            <a:chExt cx="2417" cy="2263"/>
          </a:xfrm>
        </p:grpSpPr>
        <p:sp>
          <p:nvSpPr>
            <p:cNvPr id="35891" name="Text Box 51"/>
            <p:cNvSpPr txBox="1">
              <a:spLocks noChangeArrowheads="1"/>
            </p:cNvSpPr>
            <p:nvPr/>
          </p:nvSpPr>
          <p:spPr bwMode="auto">
            <a:xfrm>
              <a:off x="4670" y="2098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kumimoji="1" lang="en-US">
                  <a:solidFill>
                    <a:srgbClr val="0F2995"/>
                  </a:solidFill>
                  <a:cs typeface="Times New Roman" pitchFamily="18" charset="0"/>
                </a:rPr>
                <a:t>Y</a:t>
              </a:r>
              <a:r>
                <a:rPr kumimoji="1" lang="en-US" baseline="-25000">
                  <a:solidFill>
                    <a:srgbClr val="0F2995"/>
                  </a:solidFill>
                  <a:cs typeface="Times New Roman" pitchFamily="18" charset="0"/>
                </a:rPr>
                <a:t>2</a:t>
              </a:r>
              <a:endParaRPr kumimoji="1" lang="en-US">
                <a:solidFill>
                  <a:srgbClr val="0F2995"/>
                </a:solidFill>
                <a:cs typeface="Times New Roman" pitchFamily="18" charset="0"/>
              </a:endParaRPr>
            </a:p>
          </p:txBody>
        </p:sp>
        <p:grpSp>
          <p:nvGrpSpPr>
            <p:cNvPr id="35892" name="Group 83"/>
            <p:cNvGrpSpPr>
              <a:grpSpLocks/>
            </p:cNvGrpSpPr>
            <p:nvPr/>
          </p:nvGrpSpPr>
          <p:grpSpPr bwMode="auto">
            <a:xfrm>
              <a:off x="3216" y="1365"/>
              <a:ext cx="2417" cy="2263"/>
              <a:chOff x="3216" y="1365"/>
              <a:chExt cx="2417" cy="2263"/>
            </a:xfrm>
          </p:grpSpPr>
          <p:sp>
            <p:nvSpPr>
              <p:cNvPr id="35893" name="Line 41"/>
              <p:cNvSpPr>
                <a:spLocks noChangeShapeType="1"/>
              </p:cNvSpPr>
              <p:nvPr/>
            </p:nvSpPr>
            <p:spPr bwMode="auto">
              <a:xfrm>
                <a:off x="4428" y="2835"/>
                <a:ext cx="0" cy="7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5894" name="Line 42"/>
              <p:cNvSpPr>
                <a:spLocks noChangeShapeType="1"/>
              </p:cNvSpPr>
              <p:nvPr/>
            </p:nvSpPr>
            <p:spPr bwMode="auto">
              <a:xfrm flipV="1">
                <a:off x="4436" y="2431"/>
                <a:ext cx="524" cy="4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5895" name="Line 45"/>
              <p:cNvSpPr>
                <a:spLocks noChangeShapeType="1"/>
              </p:cNvSpPr>
              <p:nvPr/>
            </p:nvSpPr>
            <p:spPr bwMode="auto">
              <a:xfrm>
                <a:off x="4958" y="2437"/>
                <a:ext cx="0" cy="7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5896" name="Line 46"/>
              <p:cNvSpPr>
                <a:spLocks noChangeShapeType="1"/>
              </p:cNvSpPr>
              <p:nvPr/>
            </p:nvSpPr>
            <p:spPr bwMode="auto">
              <a:xfrm flipV="1">
                <a:off x="4434" y="3216"/>
                <a:ext cx="524" cy="4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5897" name="Line 47"/>
              <p:cNvSpPr>
                <a:spLocks noChangeShapeType="1"/>
              </p:cNvSpPr>
              <p:nvPr/>
            </p:nvSpPr>
            <p:spPr bwMode="auto">
              <a:xfrm flipH="1">
                <a:off x="4696" y="2192"/>
                <a:ext cx="1" cy="8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5898" name="Line 48"/>
              <p:cNvSpPr>
                <a:spLocks noChangeShapeType="1"/>
              </p:cNvSpPr>
              <p:nvPr/>
            </p:nvSpPr>
            <p:spPr bwMode="auto">
              <a:xfrm>
                <a:off x="4698" y="3081"/>
                <a:ext cx="6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5899" name="Line 49"/>
              <p:cNvSpPr>
                <a:spLocks noChangeShapeType="1"/>
              </p:cNvSpPr>
              <p:nvPr/>
            </p:nvSpPr>
            <p:spPr bwMode="auto">
              <a:xfrm flipV="1">
                <a:off x="4690" y="2587"/>
                <a:ext cx="741" cy="4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5900" name="Text Box 50"/>
              <p:cNvSpPr txBox="1">
                <a:spLocks noChangeArrowheads="1"/>
              </p:cNvSpPr>
              <p:nvPr/>
            </p:nvSpPr>
            <p:spPr bwMode="auto">
              <a:xfrm>
                <a:off x="5314" y="2337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kumimoji="1" lang="en-US">
                    <a:solidFill>
                      <a:srgbClr val="0F2995"/>
                    </a:solidFill>
                    <a:cs typeface="Times New Roman" pitchFamily="18" charset="0"/>
                  </a:rPr>
                  <a:t>X</a:t>
                </a:r>
                <a:r>
                  <a:rPr kumimoji="1" lang="en-US" baseline="-25000">
                    <a:solidFill>
                      <a:srgbClr val="0F2995"/>
                    </a:solidFill>
                    <a:cs typeface="Times New Roman" pitchFamily="18" charset="0"/>
                  </a:rPr>
                  <a:t>2</a:t>
                </a:r>
                <a:endParaRPr kumimoji="1" lang="en-US">
                  <a:solidFill>
                    <a:srgbClr val="0F2995"/>
                  </a:solidFill>
                  <a:cs typeface="Times New Roman" pitchFamily="18" charset="0"/>
                </a:endParaRPr>
              </a:p>
            </p:txBody>
          </p:sp>
          <p:sp>
            <p:nvSpPr>
              <p:cNvPr id="35901" name="Text Box 52"/>
              <p:cNvSpPr txBox="1">
                <a:spLocks noChangeArrowheads="1"/>
              </p:cNvSpPr>
              <p:nvPr/>
            </p:nvSpPr>
            <p:spPr bwMode="auto">
              <a:xfrm>
                <a:off x="5335" y="299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kumimoji="1" lang="en-US">
                    <a:solidFill>
                      <a:srgbClr val="0F2995"/>
                    </a:solidFill>
                    <a:cs typeface="Times New Roman" pitchFamily="18" charset="0"/>
                  </a:rPr>
                  <a:t>Z</a:t>
                </a:r>
                <a:r>
                  <a:rPr kumimoji="1" lang="en-US" baseline="-25000">
                    <a:solidFill>
                      <a:srgbClr val="0F2995"/>
                    </a:solidFill>
                    <a:cs typeface="Times New Roman" pitchFamily="18" charset="0"/>
                  </a:rPr>
                  <a:t>2</a:t>
                </a:r>
                <a:endParaRPr kumimoji="1" lang="en-US">
                  <a:solidFill>
                    <a:srgbClr val="0F2995"/>
                  </a:solidFill>
                  <a:cs typeface="Times New Roman" pitchFamily="18" charset="0"/>
                </a:endParaRPr>
              </a:p>
            </p:txBody>
          </p:sp>
          <p:sp>
            <p:nvSpPr>
              <p:cNvPr id="35902" name="Line 53"/>
              <p:cNvSpPr>
                <a:spLocks noChangeShapeType="1"/>
              </p:cNvSpPr>
              <p:nvPr/>
            </p:nvSpPr>
            <p:spPr bwMode="auto">
              <a:xfrm>
                <a:off x="3216" y="2182"/>
                <a:ext cx="0" cy="7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5903" name="Line 54"/>
              <p:cNvSpPr>
                <a:spLocks noChangeShapeType="1"/>
              </p:cNvSpPr>
              <p:nvPr/>
            </p:nvSpPr>
            <p:spPr bwMode="auto">
              <a:xfrm flipV="1">
                <a:off x="3216" y="1367"/>
                <a:ext cx="1341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5904" name="Line 55"/>
              <p:cNvSpPr>
                <a:spLocks noChangeShapeType="1"/>
              </p:cNvSpPr>
              <p:nvPr/>
            </p:nvSpPr>
            <p:spPr bwMode="auto">
              <a:xfrm>
                <a:off x="4569" y="1365"/>
                <a:ext cx="0" cy="7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5905" name="Text Box 61"/>
              <p:cNvSpPr txBox="1">
                <a:spLocks noChangeArrowheads="1"/>
              </p:cNvSpPr>
              <p:nvPr/>
            </p:nvSpPr>
            <p:spPr bwMode="auto">
              <a:xfrm>
                <a:off x="4467" y="3049"/>
                <a:ext cx="32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kumimoji="1" lang="en-US">
                    <a:solidFill>
                      <a:srgbClr val="FF1D17"/>
                    </a:solidFill>
                    <a:cs typeface="Times New Roman" pitchFamily="18" charset="0"/>
                  </a:rPr>
                  <a:t>O</a:t>
                </a:r>
                <a:r>
                  <a:rPr kumimoji="1" lang="en-US" baseline="-25000">
                    <a:solidFill>
                      <a:srgbClr val="FF1D17"/>
                    </a:solidFill>
                    <a:cs typeface="Times New Roman" pitchFamily="18" charset="0"/>
                  </a:rPr>
                  <a:t>2</a:t>
                </a:r>
                <a:endParaRPr kumimoji="1" lang="en-US">
                  <a:solidFill>
                    <a:srgbClr val="FF1D17"/>
                  </a:solidFill>
                  <a:cs typeface="Times New Roman" pitchFamily="18" charset="0"/>
                </a:endParaRPr>
              </a:p>
            </p:txBody>
          </p:sp>
          <p:sp>
            <p:nvSpPr>
              <p:cNvPr id="35906" name="Line 66"/>
              <p:cNvSpPr>
                <a:spLocks noChangeShapeType="1"/>
              </p:cNvSpPr>
              <p:nvPr/>
            </p:nvSpPr>
            <p:spPr bwMode="auto">
              <a:xfrm flipV="1">
                <a:off x="3230" y="2160"/>
                <a:ext cx="1341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35866" name="Oval 69"/>
          <p:cNvSpPr>
            <a:spLocks noChangeArrowheads="1"/>
          </p:cNvSpPr>
          <p:nvPr/>
        </p:nvSpPr>
        <p:spPr bwMode="auto">
          <a:xfrm>
            <a:off x="5140325" y="122872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1036" name="Line 76"/>
          <p:cNvSpPr>
            <a:spLocks noChangeShapeType="1"/>
          </p:cNvSpPr>
          <p:nvPr/>
        </p:nvSpPr>
        <p:spPr bwMode="auto">
          <a:xfrm flipH="1">
            <a:off x="5119688" y="3252788"/>
            <a:ext cx="1304925" cy="130810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" name="Group 86"/>
          <p:cNvGrpSpPr>
            <a:grpSpLocks/>
          </p:cNvGrpSpPr>
          <p:nvPr/>
        </p:nvGrpSpPr>
        <p:grpSpPr bwMode="auto">
          <a:xfrm>
            <a:off x="4803775" y="1439863"/>
            <a:ext cx="2649538" cy="3433762"/>
            <a:chOff x="3026" y="907"/>
            <a:chExt cx="1669" cy="2163"/>
          </a:xfrm>
        </p:grpSpPr>
        <p:sp>
          <p:nvSpPr>
            <p:cNvPr id="35888" name="Line 67"/>
            <p:cNvSpPr>
              <a:spLocks noChangeShapeType="1"/>
            </p:cNvSpPr>
            <p:nvPr/>
          </p:nvSpPr>
          <p:spPr bwMode="auto">
            <a:xfrm flipH="1" flipV="1">
              <a:off x="3069" y="934"/>
              <a:ext cx="1626" cy="213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5889" name="Oval 71"/>
            <p:cNvSpPr>
              <a:spLocks noChangeArrowheads="1"/>
            </p:cNvSpPr>
            <p:nvPr/>
          </p:nvSpPr>
          <p:spPr bwMode="auto">
            <a:xfrm flipH="1">
              <a:off x="3026" y="907"/>
              <a:ext cx="75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90" name="Oval 77"/>
            <p:cNvSpPr>
              <a:spLocks noChangeArrowheads="1"/>
            </p:cNvSpPr>
            <p:nvPr/>
          </p:nvSpPr>
          <p:spPr bwMode="auto">
            <a:xfrm>
              <a:off x="3938" y="2094"/>
              <a:ext cx="56" cy="56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chemeClr val="folHlink"/>
                </a:solidFill>
              </a:endParaRPr>
            </a:p>
          </p:txBody>
        </p:sp>
      </p:grpSp>
      <p:grpSp>
        <p:nvGrpSpPr>
          <p:cNvPr id="6" name="Group 88"/>
          <p:cNvGrpSpPr>
            <a:grpSpLocks/>
          </p:cNvGrpSpPr>
          <p:nvPr/>
        </p:nvGrpSpPr>
        <p:grpSpPr bwMode="auto">
          <a:xfrm>
            <a:off x="4503738" y="1658938"/>
            <a:ext cx="2962275" cy="3235325"/>
            <a:chOff x="2837" y="1045"/>
            <a:chExt cx="1866" cy="2038"/>
          </a:xfrm>
        </p:grpSpPr>
        <p:sp>
          <p:nvSpPr>
            <p:cNvPr id="35885" name="Line 68"/>
            <p:cNvSpPr>
              <a:spLocks noChangeShapeType="1"/>
            </p:cNvSpPr>
            <p:nvPr/>
          </p:nvSpPr>
          <p:spPr bwMode="auto">
            <a:xfrm flipH="1" flipV="1">
              <a:off x="2895" y="1079"/>
              <a:ext cx="1808" cy="200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5886" name="Oval 70"/>
            <p:cNvSpPr>
              <a:spLocks noChangeArrowheads="1"/>
            </p:cNvSpPr>
            <p:nvPr/>
          </p:nvSpPr>
          <p:spPr bwMode="auto">
            <a:xfrm>
              <a:off x="2837" y="1045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7" name="Oval 78"/>
            <p:cNvSpPr>
              <a:spLocks noChangeArrowheads="1"/>
            </p:cNvSpPr>
            <p:nvPr/>
          </p:nvSpPr>
          <p:spPr bwMode="auto">
            <a:xfrm>
              <a:off x="3867" y="2175"/>
              <a:ext cx="56" cy="56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chemeClr val="folHlink"/>
                </a:solidFill>
              </a:endParaRPr>
            </a:p>
          </p:txBody>
        </p:sp>
      </p:grpSp>
      <p:grpSp>
        <p:nvGrpSpPr>
          <p:cNvPr id="7" name="Group 89"/>
          <p:cNvGrpSpPr>
            <a:grpSpLocks/>
          </p:cNvGrpSpPr>
          <p:nvPr/>
        </p:nvGrpSpPr>
        <p:grpSpPr bwMode="auto">
          <a:xfrm>
            <a:off x="4240213" y="1857375"/>
            <a:ext cx="3213100" cy="3016250"/>
            <a:chOff x="2671" y="1170"/>
            <a:chExt cx="2024" cy="1900"/>
          </a:xfrm>
        </p:grpSpPr>
        <p:sp>
          <p:nvSpPr>
            <p:cNvPr id="35882" name="Line 72"/>
            <p:cNvSpPr>
              <a:spLocks noChangeShapeType="1"/>
            </p:cNvSpPr>
            <p:nvPr/>
          </p:nvSpPr>
          <p:spPr bwMode="auto">
            <a:xfrm>
              <a:off x="2705" y="1210"/>
              <a:ext cx="1990" cy="186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5883" name="Oval 73"/>
            <p:cNvSpPr>
              <a:spLocks noChangeArrowheads="1"/>
            </p:cNvSpPr>
            <p:nvPr/>
          </p:nvSpPr>
          <p:spPr bwMode="auto">
            <a:xfrm>
              <a:off x="2671" y="1170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4" name="Oval 79"/>
            <p:cNvSpPr>
              <a:spLocks noChangeArrowheads="1"/>
            </p:cNvSpPr>
            <p:nvPr/>
          </p:nvSpPr>
          <p:spPr bwMode="auto">
            <a:xfrm>
              <a:off x="3802" y="2234"/>
              <a:ext cx="56" cy="56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chemeClr val="folHlink"/>
                </a:solidFill>
              </a:endParaRPr>
            </a:p>
          </p:txBody>
        </p:sp>
      </p:grpSp>
      <p:grpSp>
        <p:nvGrpSpPr>
          <p:cNvPr id="8" name="Group 90"/>
          <p:cNvGrpSpPr>
            <a:grpSpLocks/>
          </p:cNvGrpSpPr>
          <p:nvPr/>
        </p:nvGrpSpPr>
        <p:grpSpPr bwMode="auto">
          <a:xfrm>
            <a:off x="1568450" y="3827463"/>
            <a:ext cx="5897563" cy="1068387"/>
            <a:chOff x="988" y="2411"/>
            <a:chExt cx="3715" cy="673"/>
          </a:xfrm>
        </p:grpSpPr>
        <p:sp>
          <p:nvSpPr>
            <p:cNvPr id="35879" name="Oval 74"/>
            <p:cNvSpPr>
              <a:spLocks noChangeArrowheads="1"/>
            </p:cNvSpPr>
            <p:nvPr/>
          </p:nvSpPr>
          <p:spPr bwMode="auto">
            <a:xfrm>
              <a:off x="988" y="2411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0" name="Line 75"/>
            <p:cNvSpPr>
              <a:spLocks noChangeShapeType="1"/>
            </p:cNvSpPr>
            <p:nvPr/>
          </p:nvSpPr>
          <p:spPr bwMode="auto">
            <a:xfrm>
              <a:off x="1035" y="2435"/>
              <a:ext cx="3668" cy="649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5881" name="Oval 80"/>
            <p:cNvSpPr>
              <a:spLocks noChangeArrowheads="1"/>
            </p:cNvSpPr>
            <p:nvPr/>
          </p:nvSpPr>
          <p:spPr bwMode="auto">
            <a:xfrm>
              <a:off x="3242" y="2797"/>
              <a:ext cx="56" cy="56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chemeClr val="folHlink"/>
                </a:solidFill>
              </a:endParaRPr>
            </a:p>
          </p:txBody>
        </p:sp>
      </p:grpSp>
      <p:sp>
        <p:nvSpPr>
          <p:cNvPr id="681041" name="Line 81"/>
          <p:cNvSpPr>
            <a:spLocks noChangeShapeType="1"/>
          </p:cNvSpPr>
          <p:nvPr/>
        </p:nvSpPr>
        <p:spPr bwMode="auto">
          <a:xfrm flipV="1">
            <a:off x="6470650" y="2397125"/>
            <a:ext cx="811213" cy="809625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9" name="Group 93"/>
          <p:cNvGrpSpPr>
            <a:grpSpLocks/>
          </p:cNvGrpSpPr>
          <p:nvPr/>
        </p:nvGrpSpPr>
        <p:grpSpPr bwMode="auto">
          <a:xfrm>
            <a:off x="6597650" y="1362075"/>
            <a:ext cx="1865313" cy="1184275"/>
            <a:chOff x="4156" y="858"/>
            <a:chExt cx="1175" cy="746"/>
          </a:xfrm>
        </p:grpSpPr>
        <p:sp>
          <p:nvSpPr>
            <p:cNvPr id="35877" name="Line 91"/>
            <p:cNvSpPr>
              <a:spLocks noChangeShapeType="1"/>
            </p:cNvSpPr>
            <p:nvPr/>
          </p:nvSpPr>
          <p:spPr bwMode="auto">
            <a:xfrm>
              <a:off x="4448" y="1181"/>
              <a:ext cx="0" cy="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5878" name="Text Box 92"/>
            <p:cNvSpPr txBox="1">
              <a:spLocks noChangeArrowheads="1"/>
            </p:cNvSpPr>
            <p:nvPr/>
          </p:nvSpPr>
          <p:spPr bwMode="auto">
            <a:xfrm>
              <a:off x="4156" y="858"/>
              <a:ext cx="11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/>
                <a:t>Epipolar Line</a:t>
              </a:r>
            </a:p>
          </p:txBody>
        </p:sp>
      </p:grpSp>
      <p:grpSp>
        <p:nvGrpSpPr>
          <p:cNvPr id="10" name="Group 96"/>
          <p:cNvGrpSpPr>
            <a:grpSpLocks/>
          </p:cNvGrpSpPr>
          <p:nvPr/>
        </p:nvGrpSpPr>
        <p:grpSpPr bwMode="auto">
          <a:xfrm>
            <a:off x="4687888" y="4595813"/>
            <a:ext cx="1130300" cy="1112837"/>
            <a:chOff x="2953" y="2895"/>
            <a:chExt cx="712" cy="701"/>
          </a:xfrm>
        </p:grpSpPr>
        <p:sp>
          <p:nvSpPr>
            <p:cNvPr id="35875" name="Line 94"/>
            <p:cNvSpPr>
              <a:spLocks noChangeShapeType="1"/>
            </p:cNvSpPr>
            <p:nvPr/>
          </p:nvSpPr>
          <p:spPr bwMode="auto">
            <a:xfrm>
              <a:off x="3281" y="2895"/>
              <a:ext cx="0" cy="4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5876" name="Text Box 95"/>
            <p:cNvSpPr txBox="1">
              <a:spLocks noChangeArrowheads="1"/>
            </p:cNvSpPr>
            <p:nvPr/>
          </p:nvSpPr>
          <p:spPr bwMode="auto">
            <a:xfrm>
              <a:off x="2953" y="3308"/>
              <a:ext cx="7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/>
                <a:t>Epipole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036" grpId="0" animBg="1"/>
      <p:bldP spid="6810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Demo Epipolar Geometry</a:t>
            </a:r>
          </a:p>
        </p:txBody>
      </p:sp>
      <p:sp>
        <p:nvSpPr>
          <p:cNvPr id="36867" name="TextBox 2"/>
          <p:cNvSpPr txBox="1">
            <a:spLocks noChangeArrowheads="1"/>
          </p:cNvSpPr>
          <p:nvPr/>
        </p:nvSpPr>
        <p:spPr bwMode="auto">
          <a:xfrm>
            <a:off x="1676400" y="1752600"/>
            <a:ext cx="2028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>
                <a:hlinkClick r:id="rId2"/>
              </a:rPr>
              <a:t>Java Applet</a:t>
            </a:r>
            <a:endParaRPr lang="en-US"/>
          </a:p>
        </p:txBody>
      </p:sp>
      <p:sp>
        <p:nvSpPr>
          <p:cNvPr id="36868" name="TextBox 3"/>
          <p:cNvSpPr txBox="1">
            <a:spLocks noChangeArrowheads="1"/>
          </p:cNvSpPr>
          <p:nvPr/>
        </p:nvSpPr>
        <p:spPr bwMode="auto">
          <a:xfrm>
            <a:off x="3817938" y="1698625"/>
            <a:ext cx="2782887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credit to:</a:t>
            </a:r>
          </a:p>
          <a:p>
            <a:pPr eaLnBrk="1" hangingPunct="1"/>
            <a:r>
              <a:rPr lang="en-US" b="1"/>
              <a:t>Quang-Tuan Luong</a:t>
            </a:r>
          </a:p>
          <a:p>
            <a:pPr eaLnBrk="1" hangingPunct="1"/>
            <a:r>
              <a:rPr lang="en-US"/>
              <a:t>SRI Int.</a:t>
            </a:r>
          </a:p>
          <a:p>
            <a:pPr eaLnBrk="1" hangingPunct="1"/>
            <a:r>
              <a:rPr lang="en-US" b="1"/>
              <a:t>Sylvain Bougnoux</a:t>
            </a:r>
            <a:endParaRPr lang="en-US"/>
          </a:p>
          <a:p>
            <a:pPr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88" y="1011238"/>
            <a:ext cx="7662862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0484" name="Text Box 4"/>
          <p:cNvSpPr txBox="1">
            <a:spLocks noChangeArrowheads="1"/>
          </p:cNvSpPr>
          <p:nvPr/>
        </p:nvSpPr>
        <p:spPr bwMode="auto">
          <a:xfrm>
            <a:off x="950913" y="4364038"/>
            <a:ext cx="68008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</a:rPr>
              <a:t>  </a:t>
            </a:r>
            <a:r>
              <a:rPr lang="en-US" sz="2000">
                <a:solidFill>
                  <a:srgbClr val="000000"/>
                </a:solidFill>
                <a:latin typeface="Calibri" pitchFamily="34" charset="0"/>
              </a:rPr>
              <a:t>Potential matches for </a:t>
            </a:r>
            <a:r>
              <a:rPr lang="en-US" sz="2000" i="1">
                <a:solidFill>
                  <a:srgbClr val="000000"/>
                </a:solidFill>
                <a:latin typeface="Calibri" pitchFamily="34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alibri" pitchFamily="34" charset="0"/>
              </a:rPr>
              <a:t> have to lie on the corresponding </a:t>
            </a:r>
          </a:p>
          <a:p>
            <a:r>
              <a:rPr lang="en-US" sz="2000">
                <a:solidFill>
                  <a:srgbClr val="000000"/>
                </a:solidFill>
                <a:latin typeface="Calibri" pitchFamily="34" charset="0"/>
              </a:rPr>
              <a:t>   epipolar line </a:t>
            </a:r>
            <a:r>
              <a:rPr lang="en-US" sz="2000" i="1">
                <a:solidFill>
                  <a:srgbClr val="000000"/>
                </a:solidFill>
                <a:latin typeface="Calibri" pitchFamily="34" charset="0"/>
              </a:rPr>
              <a:t>l’</a:t>
            </a:r>
            <a:r>
              <a:rPr lang="en-US" sz="2000">
                <a:solidFill>
                  <a:srgbClr val="00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660485" name="Text Box 5"/>
          <p:cNvSpPr txBox="1">
            <a:spLocks noChangeArrowheads="1"/>
          </p:cNvSpPr>
          <p:nvPr/>
        </p:nvSpPr>
        <p:spPr bwMode="auto">
          <a:xfrm>
            <a:off x="957263" y="5181600"/>
            <a:ext cx="6858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sz="1800">
                <a:solidFill>
                  <a:srgbClr val="000000"/>
                </a:solidFill>
                <a:latin typeface="Calibri" pitchFamily="34" charset="0"/>
              </a:rPr>
              <a:t>  </a:t>
            </a:r>
            <a:r>
              <a:rPr lang="en-US" sz="2000">
                <a:solidFill>
                  <a:srgbClr val="000000"/>
                </a:solidFill>
                <a:latin typeface="Calibri" pitchFamily="34" charset="0"/>
              </a:rPr>
              <a:t>Potential matches for </a:t>
            </a:r>
            <a:r>
              <a:rPr lang="en-US" sz="2000" i="1">
                <a:solidFill>
                  <a:srgbClr val="000000"/>
                </a:solidFill>
                <a:latin typeface="Calibri" pitchFamily="34" charset="0"/>
              </a:rPr>
              <a:t>p’</a:t>
            </a:r>
            <a:r>
              <a:rPr lang="en-US" sz="2000">
                <a:solidFill>
                  <a:srgbClr val="000000"/>
                </a:solidFill>
                <a:latin typeface="Calibri" pitchFamily="34" charset="0"/>
              </a:rPr>
              <a:t> have to lie on the corresponding </a:t>
            </a:r>
          </a:p>
          <a:p>
            <a:r>
              <a:rPr lang="en-US" sz="2000">
                <a:solidFill>
                  <a:srgbClr val="000000"/>
                </a:solidFill>
                <a:latin typeface="Calibri" pitchFamily="34" charset="0"/>
              </a:rPr>
              <a:t>   epipolar line </a:t>
            </a:r>
            <a:r>
              <a:rPr lang="en-US" sz="2000" i="1">
                <a:solidFill>
                  <a:srgbClr val="000000"/>
                </a:solidFill>
                <a:latin typeface="Calibri" pitchFamily="34" charset="0"/>
              </a:rPr>
              <a:t>l</a:t>
            </a:r>
            <a:r>
              <a:rPr lang="en-US" sz="2000">
                <a:solidFill>
                  <a:srgbClr val="00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660486" name="Oval 6"/>
          <p:cNvSpPr>
            <a:spLocks noChangeArrowheads="1"/>
          </p:cNvSpPr>
          <p:nvPr/>
        </p:nvSpPr>
        <p:spPr bwMode="auto">
          <a:xfrm>
            <a:off x="2649538" y="25161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60487" name="Line 7"/>
          <p:cNvSpPr>
            <a:spLocks noChangeShapeType="1"/>
          </p:cNvSpPr>
          <p:nvPr/>
        </p:nvSpPr>
        <p:spPr bwMode="auto">
          <a:xfrm flipH="1">
            <a:off x="5849938" y="2439988"/>
            <a:ext cx="254000" cy="158115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0488" name="Oval 8"/>
          <p:cNvSpPr>
            <a:spLocks noChangeArrowheads="1"/>
          </p:cNvSpPr>
          <p:nvPr/>
        </p:nvSpPr>
        <p:spPr bwMode="auto">
          <a:xfrm>
            <a:off x="6040438" y="2516188"/>
            <a:ext cx="76200" cy="76200"/>
          </a:xfrm>
          <a:prstGeom prst="ellipse">
            <a:avLst/>
          </a:prstGeom>
          <a:solidFill>
            <a:srgbClr val="CC3300"/>
          </a:solidFill>
          <a:ln w="952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60489" name="Line 9"/>
          <p:cNvSpPr>
            <a:spLocks noChangeShapeType="1"/>
          </p:cNvSpPr>
          <p:nvPr/>
        </p:nvSpPr>
        <p:spPr bwMode="auto">
          <a:xfrm flipH="1" flipV="1">
            <a:off x="2674938" y="2420938"/>
            <a:ext cx="241300" cy="15621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0490" name="Oval 10"/>
          <p:cNvSpPr>
            <a:spLocks noChangeArrowheads="1"/>
          </p:cNvSpPr>
          <p:nvPr/>
        </p:nvSpPr>
        <p:spPr bwMode="auto">
          <a:xfrm>
            <a:off x="3081338" y="22113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60491" name="Oval 11"/>
          <p:cNvSpPr>
            <a:spLocks noChangeArrowheads="1"/>
          </p:cNvSpPr>
          <p:nvPr/>
        </p:nvSpPr>
        <p:spPr bwMode="auto">
          <a:xfrm>
            <a:off x="3735388" y="17668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60492" name="Oval 12"/>
          <p:cNvSpPr>
            <a:spLocks noChangeArrowheads="1"/>
          </p:cNvSpPr>
          <p:nvPr/>
        </p:nvSpPr>
        <p:spPr bwMode="auto">
          <a:xfrm>
            <a:off x="4357688" y="13350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60493" name="Oval 13"/>
          <p:cNvSpPr>
            <a:spLocks noChangeArrowheads="1"/>
          </p:cNvSpPr>
          <p:nvPr/>
        </p:nvSpPr>
        <p:spPr bwMode="auto">
          <a:xfrm>
            <a:off x="6040438" y="250983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60494" name="Oval 14"/>
          <p:cNvSpPr>
            <a:spLocks noChangeArrowheads="1"/>
          </p:cNvSpPr>
          <p:nvPr/>
        </p:nvSpPr>
        <p:spPr bwMode="auto">
          <a:xfrm>
            <a:off x="5989638" y="286543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60495" name="Oval 15"/>
          <p:cNvSpPr>
            <a:spLocks noChangeArrowheads="1"/>
          </p:cNvSpPr>
          <p:nvPr/>
        </p:nvSpPr>
        <p:spPr bwMode="auto">
          <a:xfrm>
            <a:off x="5932488" y="315753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7903" name="Slide Number Placeholder 1"/>
          <p:cNvSpPr txBox="1">
            <a:spLocks noGrp="1"/>
          </p:cNvSpPr>
          <p:nvPr/>
        </p:nvSpPr>
        <p:spPr bwMode="auto">
          <a:xfrm>
            <a:off x="0" y="65341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000000"/>
                </a:solidFill>
                <a:latin typeface="Calibri" pitchFamily="34" charset="0"/>
              </a:rPr>
              <a:t>Source: M. Pollefeys</a:t>
            </a: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kern="0" dirty="0" err="1">
                <a:solidFill>
                  <a:srgbClr val="1F497D"/>
                </a:solidFill>
                <a:latin typeface="Calibri"/>
              </a:rPr>
              <a:t>Epipolar</a:t>
            </a:r>
            <a:r>
              <a:rPr lang="en-US" sz="4400" kern="0" dirty="0">
                <a:solidFill>
                  <a:srgbClr val="1F497D"/>
                </a:solidFill>
                <a:latin typeface="Calibri"/>
              </a:rPr>
              <a:t> constraint</a:t>
            </a:r>
          </a:p>
        </p:txBody>
      </p:sp>
      <p:sp>
        <p:nvSpPr>
          <p:cNvPr id="37905" name="TextBox 19"/>
          <p:cNvSpPr txBox="1">
            <a:spLocks noChangeArrowheads="1"/>
          </p:cNvSpPr>
          <p:nvPr/>
        </p:nvSpPr>
        <p:spPr bwMode="auto">
          <a:xfrm>
            <a:off x="957263" y="6115050"/>
            <a:ext cx="7391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>
                <a:solidFill>
                  <a:srgbClr val="000000"/>
                </a:solidFill>
                <a:latin typeface="Calibri" pitchFamily="34" charset="0"/>
                <a:hlinkClick r:id="rId4"/>
              </a:rPr>
              <a:t>http://www.ai.sri.com/~luong/research/Meta3DViewer/EpipolarGeo.html</a:t>
            </a:r>
            <a:endParaRPr lang="en-US" sz="1800">
              <a:solidFill>
                <a:srgbClr val="000000"/>
              </a:solidFill>
              <a:latin typeface="Calibri" pitchFamily="34" charset="0"/>
            </a:endParaRPr>
          </a:p>
          <a:p>
            <a:endParaRPr lang="en-US" sz="1800">
              <a:solidFill>
                <a:srgbClr val="000000"/>
              </a:solidFill>
              <a:latin typeface="Calibri" pitchFamily="34" charset="0"/>
            </a:endParaRPr>
          </a:p>
          <a:p>
            <a:endParaRPr lang="en-US" sz="1800">
              <a:solidFill>
                <a:srgbClr val="000000"/>
              </a:solidFill>
              <a:latin typeface="Calibri" pitchFamily="34" charset="0"/>
            </a:endParaRPr>
          </a:p>
          <a:p>
            <a:endParaRPr lang="en-US" sz="1800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484" grpId="0" autoUpdateAnimBg="0"/>
      <p:bldP spid="660485" grpId="0" autoUpdateAnimBg="0"/>
      <p:bldP spid="660486" grpId="0" animBg="1"/>
      <p:bldP spid="660487" grpId="0" animBg="1"/>
      <p:bldP spid="660488" grpId="0" animBg="1" autoUpdateAnimBg="0"/>
      <p:bldP spid="660489" grpId="0" animBg="1"/>
      <p:bldP spid="660490" grpId="0" animBg="1"/>
      <p:bldP spid="660491" grpId="0" animBg="1"/>
      <p:bldP spid="660492" grpId="0" animBg="1"/>
      <p:bldP spid="660493" grpId="0" animBg="1"/>
      <p:bldP spid="660494" grpId="0" animBg="1"/>
      <p:bldP spid="66049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Finding Correspondences</a:t>
            </a:r>
          </a:p>
        </p:txBody>
      </p:sp>
      <p:grpSp>
        <p:nvGrpSpPr>
          <p:cNvPr id="34819" name="Group 19"/>
          <p:cNvGrpSpPr>
            <a:grpSpLocks/>
          </p:cNvGrpSpPr>
          <p:nvPr/>
        </p:nvGrpSpPr>
        <p:grpSpPr bwMode="auto">
          <a:xfrm>
            <a:off x="1676400" y="2474913"/>
            <a:ext cx="3622675" cy="2722562"/>
            <a:chOff x="550" y="1440"/>
            <a:chExt cx="2282" cy="1715"/>
          </a:xfrm>
        </p:grpSpPr>
        <p:pic>
          <p:nvPicPr>
            <p:cNvPr id="34830" name="Picture 5" descr="C:\Documents and Settings\gerig\My Documents\files\Courses\CV2001\material-by-others\spo1i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" y="1440"/>
              <a:ext cx="2282" cy="1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31" name="AutoShape 9"/>
            <p:cNvSpPr>
              <a:spLocks noChangeArrowheads="1"/>
            </p:cNvSpPr>
            <p:nvPr/>
          </p:nvSpPr>
          <p:spPr bwMode="auto">
            <a:xfrm>
              <a:off x="992" y="2128"/>
              <a:ext cx="144" cy="144"/>
            </a:xfrm>
            <a:prstGeom prst="star4">
              <a:avLst>
                <a:gd name="adj" fmla="val 12500"/>
              </a:avLst>
            </a:prstGeom>
            <a:solidFill>
              <a:srgbClr val="FFFF00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2" name="AutoShape 10"/>
            <p:cNvSpPr>
              <a:spLocks noChangeArrowheads="1"/>
            </p:cNvSpPr>
            <p:nvPr/>
          </p:nvSpPr>
          <p:spPr bwMode="auto">
            <a:xfrm>
              <a:off x="1216" y="1620"/>
              <a:ext cx="144" cy="144"/>
            </a:xfrm>
            <a:prstGeom prst="star4">
              <a:avLst>
                <a:gd name="adj" fmla="val 12500"/>
              </a:avLst>
            </a:prstGeom>
            <a:solidFill>
              <a:srgbClr val="FFFF00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3" name="AutoShape 11"/>
            <p:cNvSpPr>
              <a:spLocks noChangeArrowheads="1"/>
            </p:cNvSpPr>
            <p:nvPr/>
          </p:nvSpPr>
          <p:spPr bwMode="auto">
            <a:xfrm>
              <a:off x="1360" y="2516"/>
              <a:ext cx="144" cy="144"/>
            </a:xfrm>
            <a:prstGeom prst="star4">
              <a:avLst>
                <a:gd name="adj" fmla="val 12500"/>
              </a:avLst>
            </a:prstGeom>
            <a:solidFill>
              <a:srgbClr val="FFFF00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4820" name="Group 21"/>
          <p:cNvGrpSpPr>
            <a:grpSpLocks/>
          </p:cNvGrpSpPr>
          <p:nvPr/>
        </p:nvGrpSpPr>
        <p:grpSpPr bwMode="auto">
          <a:xfrm>
            <a:off x="5451475" y="2474913"/>
            <a:ext cx="3581400" cy="2692400"/>
            <a:chOff x="2928" y="1440"/>
            <a:chExt cx="2256" cy="1696"/>
          </a:xfrm>
        </p:grpSpPr>
        <p:sp>
          <p:nvSpPr>
            <p:cNvPr id="34823" name="Line 16"/>
            <p:cNvSpPr>
              <a:spLocks noChangeShapeType="1"/>
            </p:cNvSpPr>
            <p:nvPr/>
          </p:nvSpPr>
          <p:spPr bwMode="auto">
            <a:xfrm flipV="1">
              <a:off x="2928" y="1668"/>
              <a:ext cx="2252" cy="3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4" name="Line 17"/>
            <p:cNvSpPr>
              <a:spLocks noChangeShapeType="1"/>
            </p:cNvSpPr>
            <p:nvPr/>
          </p:nvSpPr>
          <p:spPr bwMode="auto">
            <a:xfrm>
              <a:off x="2936" y="2184"/>
              <a:ext cx="2248" cy="2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5" name="Line 18"/>
            <p:cNvSpPr>
              <a:spLocks noChangeShapeType="1"/>
            </p:cNvSpPr>
            <p:nvPr/>
          </p:nvSpPr>
          <p:spPr bwMode="auto">
            <a:xfrm>
              <a:off x="2928" y="2552"/>
              <a:ext cx="2256" cy="6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34826" name="Picture 6" descr="C:\Documents and Settings\gerig\My Documents\files\Courses\CV2001\material-by-others\spo2i.gi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440"/>
              <a:ext cx="2256" cy="16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7" name="AutoShape 12"/>
            <p:cNvSpPr>
              <a:spLocks noChangeArrowheads="1"/>
            </p:cNvSpPr>
            <p:nvPr/>
          </p:nvSpPr>
          <p:spPr bwMode="auto">
            <a:xfrm>
              <a:off x="3408" y="1624"/>
              <a:ext cx="144" cy="144"/>
            </a:xfrm>
            <a:prstGeom prst="star4">
              <a:avLst>
                <a:gd name="adj" fmla="val 125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8" name="AutoShape 13"/>
            <p:cNvSpPr>
              <a:spLocks noChangeArrowheads="1"/>
            </p:cNvSpPr>
            <p:nvPr/>
          </p:nvSpPr>
          <p:spPr bwMode="auto">
            <a:xfrm>
              <a:off x="3197" y="2110"/>
              <a:ext cx="144" cy="144"/>
            </a:xfrm>
            <a:prstGeom prst="star4">
              <a:avLst>
                <a:gd name="adj" fmla="val 125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9" name="AutoShape 15"/>
            <p:cNvSpPr>
              <a:spLocks noChangeArrowheads="1"/>
            </p:cNvSpPr>
            <p:nvPr/>
          </p:nvSpPr>
          <p:spPr bwMode="auto">
            <a:xfrm>
              <a:off x="3437" y="2494"/>
              <a:ext cx="144" cy="144"/>
            </a:xfrm>
            <a:prstGeom prst="star4">
              <a:avLst>
                <a:gd name="adj" fmla="val 125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4821" name="Text Box 23"/>
          <p:cNvSpPr txBox="1">
            <a:spLocks noChangeArrowheads="1"/>
          </p:cNvSpPr>
          <p:nvPr/>
        </p:nvSpPr>
        <p:spPr bwMode="auto">
          <a:xfrm>
            <a:off x="6797675" y="5181600"/>
            <a:ext cx="22939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/>
              <a:t>Andrea Fusiello, CVonline</a:t>
            </a:r>
          </a:p>
        </p:txBody>
      </p:sp>
      <p:sp>
        <p:nvSpPr>
          <p:cNvPr id="34822" name="TextBox 16"/>
          <p:cNvSpPr txBox="1">
            <a:spLocks noChangeArrowheads="1"/>
          </p:cNvSpPr>
          <p:nvPr/>
        </p:nvSpPr>
        <p:spPr bwMode="auto">
          <a:xfrm>
            <a:off x="1752600" y="5557838"/>
            <a:ext cx="6934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 smtClean="0">
                <a:latin typeface="Arial" pitchFamily="34" charset="0"/>
                <a:cs typeface="Arial" pitchFamily="34" charset="0"/>
              </a:rPr>
              <a:t>Strong constraints </a:t>
            </a:r>
            <a:r>
              <a:rPr lang="en-US" dirty="0">
                <a:latin typeface="Arial" pitchFamily="34" charset="0"/>
                <a:cs typeface="Arial" pitchFamily="34" charset="0"/>
              </a:rPr>
              <a:t>for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searching for corresponding points!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11275"/>
            <a:ext cx="6334125" cy="465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kern="0" dirty="0">
                <a:solidFill>
                  <a:srgbClr val="1F497D"/>
                </a:solidFill>
                <a:latin typeface="Calibri"/>
              </a:rPr>
              <a:t>Example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3740" y="3640137"/>
            <a:ext cx="1985290" cy="1294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079371" y="5105400"/>
            <a:ext cx="182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Parallel Cameras: Corresponding points on horizontal lines. 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Epipolar Constraint</a:t>
            </a:r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" y="1981200"/>
            <a:ext cx="7610475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From Geometry to Algebra</a:t>
            </a:r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775" y="2219325"/>
            <a:ext cx="66484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084" name="Line 4"/>
          <p:cNvSpPr>
            <a:spLocks noChangeShapeType="1"/>
          </p:cNvSpPr>
          <p:nvPr/>
        </p:nvSpPr>
        <p:spPr bwMode="auto">
          <a:xfrm>
            <a:off x="2036763" y="4513263"/>
            <a:ext cx="5208587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087" name="Line 7"/>
          <p:cNvSpPr>
            <a:spLocks noChangeShapeType="1"/>
          </p:cNvSpPr>
          <p:nvPr/>
        </p:nvSpPr>
        <p:spPr bwMode="auto">
          <a:xfrm flipV="1">
            <a:off x="1947863" y="2687638"/>
            <a:ext cx="2605087" cy="1747837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088" name="Line 8"/>
          <p:cNvSpPr>
            <a:spLocks noChangeShapeType="1"/>
          </p:cNvSpPr>
          <p:nvPr/>
        </p:nvSpPr>
        <p:spPr bwMode="auto">
          <a:xfrm flipH="1" flipV="1">
            <a:off x="4756150" y="2708275"/>
            <a:ext cx="2571750" cy="1747838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089" name="Line 9"/>
          <p:cNvSpPr>
            <a:spLocks noChangeShapeType="1"/>
          </p:cNvSpPr>
          <p:nvPr/>
        </p:nvSpPr>
        <p:spPr bwMode="auto">
          <a:xfrm flipV="1">
            <a:off x="2143125" y="3567113"/>
            <a:ext cx="1389063" cy="936625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090" name="Line 10"/>
          <p:cNvSpPr>
            <a:spLocks noChangeShapeType="1"/>
          </p:cNvSpPr>
          <p:nvPr/>
        </p:nvSpPr>
        <p:spPr bwMode="auto">
          <a:xfrm flipH="1" flipV="1">
            <a:off x="5916613" y="3657600"/>
            <a:ext cx="1225550" cy="85725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1725613" y="2105025"/>
            <a:ext cx="5972175" cy="2792413"/>
            <a:chOff x="1087" y="1035"/>
            <a:chExt cx="3762" cy="1759"/>
          </a:xfrm>
        </p:grpSpPr>
        <p:sp>
          <p:nvSpPr>
            <p:cNvPr id="40970" name="Text Box 5"/>
            <p:cNvSpPr txBox="1">
              <a:spLocks noChangeArrowheads="1"/>
            </p:cNvSpPr>
            <p:nvPr/>
          </p:nvSpPr>
          <p:spPr bwMode="auto">
            <a:xfrm>
              <a:off x="1087" y="250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40971" name="Text Box 6"/>
            <p:cNvSpPr txBox="1">
              <a:spLocks noChangeArrowheads="1"/>
            </p:cNvSpPr>
            <p:nvPr/>
          </p:nvSpPr>
          <p:spPr bwMode="auto">
            <a:xfrm>
              <a:off x="4530" y="2500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FF0000"/>
                  </a:solidFill>
                </a:rPr>
                <a:t>O’</a:t>
              </a:r>
            </a:p>
          </p:txBody>
        </p:sp>
        <p:sp>
          <p:nvSpPr>
            <p:cNvPr id="40972" name="Text Box 11"/>
            <p:cNvSpPr txBox="1">
              <a:spLocks noChangeArrowheads="1"/>
            </p:cNvSpPr>
            <p:nvPr/>
          </p:nvSpPr>
          <p:spPr bwMode="auto">
            <a:xfrm>
              <a:off x="2852" y="1035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FF0000"/>
                  </a:solidFill>
                </a:rPr>
                <a:t>P</a:t>
              </a:r>
            </a:p>
          </p:txBody>
        </p:sp>
        <p:sp>
          <p:nvSpPr>
            <p:cNvPr id="40973" name="Text Box 12"/>
            <p:cNvSpPr txBox="1">
              <a:spLocks noChangeArrowheads="1"/>
            </p:cNvSpPr>
            <p:nvPr/>
          </p:nvSpPr>
          <p:spPr bwMode="auto">
            <a:xfrm>
              <a:off x="2160" y="186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dirty="0">
                  <a:solidFill>
                    <a:srgbClr val="FF0000"/>
                  </a:solidFill>
                </a:rPr>
                <a:t>p</a:t>
              </a:r>
            </a:p>
          </p:txBody>
        </p:sp>
        <p:sp>
          <p:nvSpPr>
            <p:cNvPr id="40974" name="Text Box 13"/>
            <p:cNvSpPr txBox="1">
              <a:spLocks noChangeArrowheads="1"/>
            </p:cNvSpPr>
            <p:nvPr/>
          </p:nvSpPr>
          <p:spPr bwMode="auto">
            <a:xfrm>
              <a:off x="3456" y="1869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dirty="0">
                  <a:solidFill>
                    <a:srgbClr val="FF0000"/>
                  </a:solidFill>
                </a:rPr>
                <a:t>p’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084" grpId="0" animBg="1"/>
      <p:bldP spid="686087" grpId="0" animBg="1"/>
      <p:bldP spid="686088" grpId="0" animBg="1"/>
      <p:bldP spid="686089" grpId="0" animBg="1"/>
      <p:bldP spid="68609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From Geometry to Algebra</a:t>
            </a:r>
          </a:p>
        </p:txBody>
      </p:sp>
      <p:grpSp>
        <p:nvGrpSpPr>
          <p:cNvPr id="41987" name="Group 15"/>
          <p:cNvGrpSpPr>
            <a:grpSpLocks/>
          </p:cNvGrpSpPr>
          <p:nvPr/>
        </p:nvGrpSpPr>
        <p:grpSpPr bwMode="auto">
          <a:xfrm>
            <a:off x="1725613" y="1643063"/>
            <a:ext cx="5972175" cy="2792412"/>
            <a:chOff x="1087" y="1035"/>
            <a:chExt cx="3762" cy="1759"/>
          </a:xfrm>
        </p:grpSpPr>
        <p:sp>
          <p:nvSpPr>
            <p:cNvPr id="41990" name="Line 4"/>
            <p:cNvSpPr>
              <a:spLocks noChangeShapeType="1"/>
            </p:cNvSpPr>
            <p:nvPr/>
          </p:nvSpPr>
          <p:spPr bwMode="auto">
            <a:xfrm>
              <a:off x="1283" y="2552"/>
              <a:ext cx="328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991" name="Line 5"/>
            <p:cNvSpPr>
              <a:spLocks noChangeShapeType="1"/>
            </p:cNvSpPr>
            <p:nvPr/>
          </p:nvSpPr>
          <p:spPr bwMode="auto">
            <a:xfrm flipV="1">
              <a:off x="1227" y="1402"/>
              <a:ext cx="1641" cy="110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992" name="Line 6"/>
            <p:cNvSpPr>
              <a:spLocks noChangeShapeType="1"/>
            </p:cNvSpPr>
            <p:nvPr/>
          </p:nvSpPr>
          <p:spPr bwMode="auto">
            <a:xfrm flipH="1" flipV="1">
              <a:off x="2996" y="1415"/>
              <a:ext cx="1620" cy="110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993" name="Line 7"/>
            <p:cNvSpPr>
              <a:spLocks noChangeShapeType="1"/>
            </p:cNvSpPr>
            <p:nvPr/>
          </p:nvSpPr>
          <p:spPr bwMode="auto">
            <a:xfrm flipV="1">
              <a:off x="1350" y="1956"/>
              <a:ext cx="875" cy="59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994" name="Line 8"/>
            <p:cNvSpPr>
              <a:spLocks noChangeShapeType="1"/>
            </p:cNvSpPr>
            <p:nvPr/>
          </p:nvSpPr>
          <p:spPr bwMode="auto">
            <a:xfrm flipH="1" flipV="1">
              <a:off x="3648" y="1956"/>
              <a:ext cx="851" cy="59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41995" name="Group 9"/>
            <p:cNvGrpSpPr>
              <a:grpSpLocks/>
            </p:cNvGrpSpPr>
            <p:nvPr/>
          </p:nvGrpSpPr>
          <p:grpSpPr bwMode="auto">
            <a:xfrm>
              <a:off x="1087" y="1035"/>
              <a:ext cx="3762" cy="1759"/>
              <a:chOff x="1087" y="1035"/>
              <a:chExt cx="3762" cy="1759"/>
            </a:xfrm>
          </p:grpSpPr>
          <p:sp>
            <p:nvSpPr>
              <p:cNvPr id="41996" name="Text Box 10"/>
              <p:cNvSpPr txBox="1">
                <a:spLocks noChangeArrowheads="1"/>
              </p:cNvSpPr>
              <p:nvPr/>
            </p:nvSpPr>
            <p:spPr bwMode="auto">
              <a:xfrm>
                <a:off x="1087" y="2506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>
                    <a:solidFill>
                      <a:srgbClr val="FF0000"/>
                    </a:solidFill>
                  </a:rPr>
                  <a:t>O</a:t>
                </a:r>
              </a:p>
            </p:txBody>
          </p:sp>
          <p:sp>
            <p:nvSpPr>
              <p:cNvPr id="41997" name="Text Box 11"/>
              <p:cNvSpPr txBox="1">
                <a:spLocks noChangeArrowheads="1"/>
              </p:cNvSpPr>
              <p:nvPr/>
            </p:nvSpPr>
            <p:spPr bwMode="auto">
              <a:xfrm>
                <a:off x="4530" y="2500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>
                    <a:solidFill>
                      <a:srgbClr val="FF0000"/>
                    </a:solidFill>
                  </a:rPr>
                  <a:t>O’</a:t>
                </a:r>
              </a:p>
            </p:txBody>
          </p:sp>
          <p:sp>
            <p:nvSpPr>
              <p:cNvPr id="41998" name="Text Box 12"/>
              <p:cNvSpPr txBox="1">
                <a:spLocks noChangeArrowheads="1"/>
              </p:cNvSpPr>
              <p:nvPr/>
            </p:nvSpPr>
            <p:spPr bwMode="auto">
              <a:xfrm>
                <a:off x="2852" y="1035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>
                    <a:solidFill>
                      <a:srgbClr val="FF0000"/>
                    </a:solidFill>
                  </a:rPr>
                  <a:t>P</a:t>
                </a:r>
              </a:p>
            </p:txBody>
          </p:sp>
          <p:sp>
            <p:nvSpPr>
              <p:cNvPr id="41999" name="Text Box 13"/>
              <p:cNvSpPr txBox="1">
                <a:spLocks noChangeArrowheads="1"/>
              </p:cNvSpPr>
              <p:nvPr/>
            </p:nvSpPr>
            <p:spPr bwMode="auto">
              <a:xfrm>
                <a:off x="2197" y="195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>
                    <a:solidFill>
                      <a:srgbClr val="FF0000"/>
                    </a:solidFill>
                  </a:rPr>
                  <a:t>p</a:t>
                </a:r>
              </a:p>
            </p:txBody>
          </p:sp>
          <p:sp>
            <p:nvSpPr>
              <p:cNvPr id="42000" name="Text Box 14"/>
              <p:cNvSpPr txBox="1">
                <a:spLocks noChangeArrowheads="1"/>
              </p:cNvSpPr>
              <p:nvPr/>
            </p:nvSpPr>
            <p:spPr bwMode="auto">
              <a:xfrm>
                <a:off x="3504" y="1968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dirty="0">
                    <a:solidFill>
                      <a:srgbClr val="FF0000"/>
                    </a:solidFill>
                  </a:rPr>
                  <a:t>p’</a:t>
                </a:r>
              </a:p>
            </p:txBody>
          </p:sp>
        </p:grpSp>
      </p:grpSp>
      <p:pic>
        <p:nvPicPr>
          <p:cNvPr id="41988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513" y="4578350"/>
            <a:ext cx="713422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7121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450" y="5311775"/>
            <a:ext cx="43434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38" y="884238"/>
            <a:ext cx="76581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81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3" y="3255963"/>
            <a:ext cx="3362325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813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725" y="4316413"/>
            <a:ext cx="38766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8135" name="Text Box 7"/>
          <p:cNvSpPr txBox="1">
            <a:spLocks noChangeArrowheads="1"/>
          </p:cNvSpPr>
          <p:nvPr/>
        </p:nvSpPr>
        <p:spPr bwMode="auto">
          <a:xfrm>
            <a:off x="4237038" y="5448300"/>
            <a:ext cx="4573587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Linear Constraint:</a:t>
            </a:r>
            <a:br>
              <a:rPr lang="en-US"/>
            </a:br>
            <a:r>
              <a:rPr lang="en-US"/>
              <a:t>Should be able to express as matrix </a:t>
            </a:r>
            <a:br>
              <a:rPr lang="en-US"/>
            </a:br>
            <a:r>
              <a:rPr lang="en-US"/>
              <a:t>multiplication.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813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Review: Matrix Form of Cross Product</a:t>
            </a:r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8" y="1195388"/>
            <a:ext cx="6981825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Review: Matrix Form of Cross Product</a:t>
            </a:r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05000"/>
            <a:ext cx="7696200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Matrix Form</a:t>
            </a:r>
          </a:p>
        </p:txBody>
      </p: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924050"/>
            <a:ext cx="6677025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Essential Matrix</a:t>
            </a:r>
          </a:p>
        </p:txBody>
      </p:sp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908175"/>
            <a:ext cx="71247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3429000"/>
            <a:ext cx="287655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429000"/>
            <a:ext cx="4591050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Essential Matrix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/>
              <a:t>Based on the Relative Geometry of the Cameras</a:t>
            </a:r>
          </a:p>
          <a:p>
            <a:r>
              <a:rPr lang="en-US" smtClean="0"/>
              <a:t>Assumes Cameras are calibrated (i.e., intrinsic parameters are known)</a:t>
            </a:r>
          </a:p>
          <a:p>
            <a:r>
              <a:rPr lang="en-US" smtClean="0"/>
              <a:t>Relates image of point in one camera to a second camera (points in camera coordinate system).</a:t>
            </a:r>
          </a:p>
          <a:p>
            <a:r>
              <a:rPr lang="en-US" smtClean="0"/>
              <a:t>Is defined up to scale</a:t>
            </a:r>
          </a:p>
          <a:p>
            <a:r>
              <a:rPr lang="en-US" smtClean="0"/>
              <a:t>5 independent parameters</a:t>
            </a:r>
          </a:p>
          <a:p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Essential Matrix</a:t>
            </a: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600200"/>
            <a:ext cx="3352800" cy="1298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057400" y="3428999"/>
            <a:ext cx="2387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What is </a:t>
            </a:r>
            <a:r>
              <a:rPr lang="el-GR" sz="4400" dirty="0" smtClean="0"/>
              <a:t>ε</a:t>
            </a:r>
            <a:r>
              <a:rPr lang="en-US" sz="3200" dirty="0" smtClean="0"/>
              <a:t>p’ 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26297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Essential Matrix</a:t>
            </a:r>
          </a:p>
        </p:txBody>
      </p:sp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362918"/>
            <a:ext cx="7162800" cy="4352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463550" y="5956300"/>
            <a:ext cx="754405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/>
              <a:t>Similarly      </a:t>
            </a:r>
            <a:r>
              <a:rPr lang="en-US" i="1" dirty="0"/>
              <a:t>p</a:t>
            </a:r>
            <a:r>
              <a:rPr lang="en-US" dirty="0"/>
              <a:t>  is the </a:t>
            </a:r>
            <a:r>
              <a:rPr lang="en-US" dirty="0" err="1"/>
              <a:t>epipolar</a:t>
            </a:r>
            <a:r>
              <a:rPr lang="en-US" dirty="0"/>
              <a:t> line corresponding to </a:t>
            </a:r>
            <a:r>
              <a:rPr lang="en-US" b="1" dirty="0"/>
              <a:t>p</a:t>
            </a:r>
            <a:r>
              <a:rPr lang="en-US" dirty="0"/>
              <a:t> in the</a:t>
            </a:r>
            <a:br>
              <a:rPr lang="en-US" dirty="0"/>
            </a:br>
            <a:r>
              <a:rPr lang="en-US" dirty="0"/>
              <a:t>right </a:t>
            </a:r>
            <a:r>
              <a:rPr lang="en-US" dirty="0" smtClean="0"/>
              <a:t>camera.</a:t>
            </a:r>
            <a:endParaRPr lang="en-US" dirty="0"/>
          </a:p>
        </p:txBody>
      </p:sp>
      <p:graphicFrame>
        <p:nvGraphicFramePr>
          <p:cNvPr id="49157" name="Object 5"/>
          <p:cNvGraphicFramePr>
            <a:graphicFrameLocks noChangeAspect="1"/>
          </p:cNvGraphicFramePr>
          <p:nvPr/>
        </p:nvGraphicFramePr>
        <p:xfrm>
          <a:off x="1709738" y="5735638"/>
          <a:ext cx="657225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1" name="Equation" r:id="rId4" imgW="190417" imgH="203112" progId="Equation.3">
                  <p:embed/>
                </p:oleObj>
              </mc:Choice>
              <mc:Fallback>
                <p:oleObj name="Equation" r:id="rId4" imgW="190417" imgH="203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5735638"/>
                        <a:ext cx="657225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495800" y="3200400"/>
            <a:ext cx="4411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dirty="0" smtClean="0">
                <a:solidFill>
                  <a:srgbClr val="FF0000"/>
                </a:solidFill>
              </a:rPr>
              <a:t>’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Essential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0" y="3136880"/>
            <a:ext cx="6477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What is </a:t>
            </a:r>
            <a:r>
              <a:rPr lang="el-GR" sz="4400" dirty="0" smtClean="0"/>
              <a:t>ε</a:t>
            </a:r>
            <a:r>
              <a:rPr lang="en-US" sz="3200" dirty="0" smtClean="0"/>
              <a:t>e’ ?</a:t>
            </a:r>
          </a:p>
          <a:p>
            <a:endParaRPr lang="en-US" sz="32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l</a:t>
            </a:r>
            <a:r>
              <a:rPr lang="en-US" sz="3200" dirty="0" smtClean="0"/>
              <a:t>ine </a:t>
            </a:r>
            <a:r>
              <a:rPr lang="el-GR" sz="4400" dirty="0" smtClean="0"/>
              <a:t>ε</a:t>
            </a:r>
            <a:r>
              <a:rPr lang="en-US" sz="3200" dirty="0" smtClean="0"/>
              <a:t>p’ converges to </a:t>
            </a:r>
            <a:r>
              <a:rPr lang="en-US" sz="3200" dirty="0" err="1" smtClean="0"/>
              <a:t>epipole</a:t>
            </a:r>
            <a:r>
              <a:rPr lang="en-US" sz="3200" dirty="0" smtClean="0"/>
              <a:t> 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e’ (center of </a:t>
            </a:r>
            <a:r>
              <a:rPr lang="en-US" sz="3200" dirty="0"/>
              <a:t>camera </a:t>
            </a:r>
            <a:r>
              <a:rPr lang="en-US" sz="3200" dirty="0" smtClean="0"/>
              <a:t>C</a:t>
            </a:r>
            <a:r>
              <a:rPr lang="en-US" sz="3200" baseline="-25000" dirty="0" smtClean="0"/>
              <a:t>2</a:t>
            </a:r>
            <a:r>
              <a:rPr lang="en-US" sz="3200" dirty="0" smtClean="0"/>
              <a:t> expressed in frame C</a:t>
            </a:r>
            <a:r>
              <a:rPr lang="en-US" sz="3200" baseline="-25000" dirty="0" smtClean="0"/>
              <a:t>1)</a:t>
            </a:r>
          </a:p>
          <a:p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2083760" y="2133600"/>
            <a:ext cx="13452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/>
              <a:t>e</a:t>
            </a:r>
            <a:r>
              <a:rPr lang="en-US" sz="3200" baseline="30000" dirty="0" err="1" smtClean="0"/>
              <a:t>T</a:t>
            </a:r>
            <a:r>
              <a:rPr lang="el-GR" sz="4400" dirty="0" smtClean="0"/>
              <a:t>ε</a:t>
            </a:r>
            <a:r>
              <a:rPr lang="en-US" sz="3200" dirty="0" smtClean="0"/>
              <a:t>e’ ?</a:t>
            </a:r>
            <a:endParaRPr lang="en-US" sz="3200" dirty="0"/>
          </a:p>
        </p:txBody>
      </p:sp>
      <p:grpSp>
        <p:nvGrpSpPr>
          <p:cNvPr id="17" name="Group 16"/>
          <p:cNvGrpSpPr/>
          <p:nvPr/>
        </p:nvGrpSpPr>
        <p:grpSpPr>
          <a:xfrm>
            <a:off x="4481158" y="2507434"/>
            <a:ext cx="4591050" cy="2063538"/>
            <a:chOff x="4481158" y="2507434"/>
            <a:chExt cx="4591050" cy="2063538"/>
          </a:xfrm>
        </p:grpSpPr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7454809" y="4059001"/>
              <a:ext cx="4206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dirty="0">
                  <a:solidFill>
                    <a:srgbClr val="FF0000"/>
                  </a:solidFill>
                </a:rPr>
                <a:t>e’</a:t>
              </a:r>
            </a:p>
          </p:txBody>
        </p:sp>
        <p:pic>
          <p:nvPicPr>
            <p:cNvPr id="9" name="Picture 5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3745"/>
            <a:stretch/>
          </p:blipFill>
          <p:spPr bwMode="auto">
            <a:xfrm>
              <a:off x="4481158" y="2507434"/>
              <a:ext cx="4591050" cy="1710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5562600" y="3739975"/>
              <a:ext cx="681597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l-GR" sz="4800" dirty="0" smtClean="0">
                  <a:solidFill>
                    <a:srgbClr val="FF0000"/>
                  </a:solidFill>
                </a:rPr>
                <a:t>ε</a:t>
              </a:r>
              <a:r>
                <a:rPr lang="en-US" dirty="0" smtClean="0">
                  <a:solidFill>
                    <a:srgbClr val="FF0000"/>
                  </a:solidFill>
                </a:rPr>
                <a:t>e</a:t>
              </a:r>
              <a:r>
                <a:rPr lang="en-US" dirty="0">
                  <a:solidFill>
                    <a:srgbClr val="FF0000"/>
                  </a:solidFill>
                </a:rPr>
                <a:t>’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5903398" y="3836616"/>
              <a:ext cx="16036" cy="9664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532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Pencil of </a:t>
            </a:r>
            <a:r>
              <a:rPr lang="en-US" dirty="0" err="1" smtClean="0"/>
              <a:t>epipolar</a:t>
            </a:r>
            <a:r>
              <a:rPr lang="en-US" dirty="0" smtClean="0"/>
              <a:t> lines</a:t>
            </a:r>
            <a:endParaRPr lang="en-US" dirty="0"/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732" y="1066800"/>
            <a:ext cx="4206886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24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757" y="4724400"/>
            <a:ext cx="5695950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3897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Pencil of </a:t>
            </a:r>
            <a:r>
              <a:rPr lang="en-US" dirty="0" err="1" smtClean="0"/>
              <a:t>epipolar</a:t>
            </a:r>
            <a:r>
              <a:rPr lang="en-US" dirty="0" smtClean="0"/>
              <a:t> lines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447800"/>
            <a:ext cx="7005988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419600" y="624840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http://www.cse.psu.edu/~rcollins/CSE486/lecture19_6pp.pdf</a:t>
            </a:r>
          </a:p>
        </p:txBody>
      </p:sp>
    </p:spTree>
    <p:extLst>
      <p:ext uri="{BB962C8B-B14F-4D97-AF65-F5344CB8AC3E}">
        <p14:creationId xmlns:p14="http://schemas.microsoft.com/office/powerpoint/2010/main" val="1405386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Epipoles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447800"/>
            <a:ext cx="6629400" cy="51054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400" dirty="0"/>
              <a:t>The </a:t>
            </a:r>
            <a:r>
              <a:rPr lang="en-US" sz="2400" dirty="0" err="1"/>
              <a:t>epipolar</a:t>
            </a:r>
            <a:r>
              <a:rPr lang="en-US" sz="2400" dirty="0"/>
              <a:t> line </a:t>
            </a:r>
            <a:r>
              <a:rPr lang="en-US" sz="2400" dirty="0" smtClean="0"/>
              <a:t>l’ </a:t>
            </a:r>
            <a:r>
              <a:rPr lang="en-US" sz="2400" dirty="0"/>
              <a:t>= </a:t>
            </a:r>
            <a:r>
              <a:rPr lang="en-US" sz="3600" dirty="0" err="1"/>
              <a:t>ε</a:t>
            </a:r>
            <a:r>
              <a:rPr lang="en-US" sz="2400" dirty="0" err="1" smtClean="0"/>
              <a:t>x</a:t>
            </a:r>
            <a:r>
              <a:rPr lang="en-US" sz="2400" dirty="0" smtClean="0"/>
              <a:t> </a:t>
            </a:r>
            <a:r>
              <a:rPr lang="en-US" sz="2400" dirty="0"/>
              <a:t>to each point x (except e) intersects </a:t>
            </a:r>
            <a:r>
              <a:rPr lang="en-US" sz="2400" dirty="0" smtClean="0"/>
              <a:t>the </a:t>
            </a:r>
            <a:r>
              <a:rPr lang="pt-BR" sz="2400" dirty="0" smtClean="0"/>
              <a:t>epipole </a:t>
            </a:r>
            <a:r>
              <a:rPr lang="pt-BR" sz="2400" dirty="0"/>
              <a:t>e</a:t>
            </a:r>
            <a:r>
              <a:rPr lang="pt-BR" sz="2400" baseline="-25000" dirty="0"/>
              <a:t>0</a:t>
            </a:r>
            <a:r>
              <a:rPr lang="pt-BR" sz="2400" dirty="0"/>
              <a:t>. Thus </a:t>
            </a:r>
            <a:r>
              <a:rPr lang="pt-BR" sz="2400" dirty="0" smtClean="0"/>
              <a:t>e’ </a:t>
            </a:r>
            <a:r>
              <a:rPr lang="pt-BR" sz="2400" dirty="0"/>
              <a:t>satisfies </a:t>
            </a:r>
            <a:r>
              <a:rPr lang="pt-BR" sz="2400" dirty="0" smtClean="0"/>
              <a:t>e’</a:t>
            </a:r>
            <a:r>
              <a:rPr lang="pt-BR" sz="2400" baseline="30000" dirty="0" smtClean="0"/>
              <a:t>T</a:t>
            </a:r>
            <a:r>
              <a:rPr lang="pt-BR" sz="2400" dirty="0" smtClean="0"/>
              <a:t>(</a:t>
            </a:r>
            <a:r>
              <a:rPr lang="en-US" sz="3600" dirty="0"/>
              <a:t>ε</a:t>
            </a:r>
            <a:r>
              <a:rPr lang="pt-BR" sz="2400" dirty="0" smtClean="0"/>
              <a:t>x</a:t>
            </a:r>
            <a:r>
              <a:rPr lang="pt-BR" sz="2400" dirty="0"/>
              <a:t>) = (</a:t>
            </a:r>
            <a:r>
              <a:rPr lang="pt-BR" sz="2400" dirty="0" smtClean="0"/>
              <a:t>e’</a:t>
            </a:r>
            <a:r>
              <a:rPr lang="pt-BR" sz="2400" baseline="30000" dirty="0" smtClean="0"/>
              <a:t>T</a:t>
            </a:r>
            <a:r>
              <a:rPr lang="en-US" sz="2400" dirty="0"/>
              <a:t> </a:t>
            </a:r>
            <a:r>
              <a:rPr lang="en-US" sz="3600" dirty="0"/>
              <a:t>ε</a:t>
            </a:r>
            <a:r>
              <a:rPr lang="pt-BR" sz="2400" dirty="0" smtClean="0"/>
              <a:t>)x </a:t>
            </a:r>
            <a:r>
              <a:rPr lang="pt-BR" sz="2400" dirty="0"/>
              <a:t>= 0 </a:t>
            </a:r>
            <a:r>
              <a:rPr lang="pt-BR" sz="2400" u="sng" dirty="0"/>
              <a:t>for all x</a:t>
            </a:r>
            <a:r>
              <a:rPr lang="pt-BR" sz="2400" dirty="0" smtClean="0"/>
              <a:t>.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This implies that </a:t>
            </a:r>
            <a:r>
              <a:rPr lang="pt-BR" sz="2400" dirty="0"/>
              <a:t>e’</a:t>
            </a:r>
            <a:r>
              <a:rPr lang="pt-BR" sz="2400" baseline="30000" dirty="0"/>
              <a:t>T</a:t>
            </a:r>
            <a:r>
              <a:rPr lang="en-US" sz="2400" dirty="0"/>
              <a:t> </a:t>
            </a:r>
            <a:r>
              <a:rPr lang="en-US" sz="3600" dirty="0"/>
              <a:t>ε </a:t>
            </a:r>
            <a:r>
              <a:rPr lang="en-US" sz="2400" dirty="0" smtClean="0"/>
              <a:t>= 0</a:t>
            </a:r>
            <a:r>
              <a:rPr lang="en-US" sz="2400" baseline="30000" dirty="0" smtClean="0"/>
              <a:t>T</a:t>
            </a:r>
            <a:r>
              <a:rPr lang="en-US" sz="2400" dirty="0" smtClean="0"/>
              <a:t> </a:t>
            </a:r>
            <a:r>
              <a:rPr lang="en-US" sz="2400" dirty="0"/>
              <a:t>or </a:t>
            </a:r>
            <a:r>
              <a:rPr lang="en-US" sz="3600" dirty="0" err="1" smtClean="0"/>
              <a:t>ε</a:t>
            </a:r>
            <a:r>
              <a:rPr lang="en-US" sz="2400" baseline="30000" dirty="0" err="1" smtClean="0"/>
              <a:t>T</a:t>
            </a:r>
            <a:r>
              <a:rPr lang="en-US" sz="2400" dirty="0" err="1" smtClean="0"/>
              <a:t>e</a:t>
            </a:r>
            <a:r>
              <a:rPr lang="en-US" sz="2400" dirty="0" smtClean="0"/>
              <a:t>’ </a:t>
            </a:r>
            <a:r>
              <a:rPr lang="en-US" sz="2400" dirty="0"/>
              <a:t>= 0. The </a:t>
            </a:r>
            <a:r>
              <a:rPr lang="en-US" sz="2400" dirty="0" err="1"/>
              <a:t>epipole</a:t>
            </a:r>
            <a:r>
              <a:rPr lang="en-US" sz="2400" dirty="0"/>
              <a:t> </a:t>
            </a:r>
            <a:r>
              <a:rPr lang="en-US" sz="2400" dirty="0" smtClean="0"/>
              <a:t>e’ </a:t>
            </a:r>
            <a:r>
              <a:rPr lang="en-US" sz="2400" dirty="0"/>
              <a:t>is thus </a:t>
            </a:r>
            <a:r>
              <a:rPr lang="en-US" sz="2400" dirty="0" smtClean="0"/>
              <a:t>a null </a:t>
            </a:r>
            <a:r>
              <a:rPr lang="en-US" sz="2400" dirty="0"/>
              <a:t>vector to </a:t>
            </a:r>
            <a:r>
              <a:rPr lang="en-US" sz="3600" dirty="0" err="1" smtClean="0"/>
              <a:t>ε</a:t>
            </a:r>
            <a:r>
              <a:rPr lang="en-US" sz="2400" baseline="30000" dirty="0" err="1" smtClean="0"/>
              <a:t>T</a:t>
            </a:r>
            <a:r>
              <a:rPr lang="en-US" sz="2400" dirty="0"/>
              <a:t> </a:t>
            </a:r>
            <a:r>
              <a:rPr lang="en-US" sz="2400" dirty="0" smtClean="0"/>
              <a:t>(in </a:t>
            </a:r>
            <a:r>
              <a:rPr lang="en-US" sz="2400" dirty="0"/>
              <a:t>the left null-space of </a:t>
            </a:r>
            <a:r>
              <a:rPr lang="en-US" sz="3600" dirty="0">
                <a:solidFill>
                  <a:srgbClr val="000000"/>
                </a:solidFill>
              </a:rPr>
              <a:t>ε</a:t>
            </a:r>
            <a:r>
              <a:rPr lang="en-US" sz="2400" dirty="0" smtClean="0"/>
              <a:t>).</a:t>
            </a:r>
          </a:p>
          <a:p>
            <a:r>
              <a:rPr lang="en-US" sz="2400" dirty="0"/>
              <a:t>Similarly, </a:t>
            </a:r>
            <a:r>
              <a:rPr lang="en-US" sz="3600" dirty="0" err="1" smtClean="0">
                <a:solidFill>
                  <a:srgbClr val="000000"/>
                </a:solidFill>
              </a:rPr>
              <a:t>ε</a:t>
            </a:r>
            <a:r>
              <a:rPr lang="en-US" sz="2400" dirty="0" err="1" smtClean="0"/>
              <a:t>e</a:t>
            </a:r>
            <a:r>
              <a:rPr lang="en-US" sz="2400" dirty="0" smtClean="0"/>
              <a:t> </a:t>
            </a:r>
            <a:r>
              <a:rPr lang="en-US" sz="2400" dirty="0"/>
              <a:t>= 0, i.e. e is a null-vector to </a:t>
            </a:r>
            <a:r>
              <a:rPr lang="en-US" sz="3600" dirty="0">
                <a:solidFill>
                  <a:srgbClr val="000000"/>
                </a:solidFill>
              </a:rPr>
              <a:t>ε</a:t>
            </a:r>
            <a:r>
              <a:rPr lang="en-US" sz="2400" dirty="0" smtClean="0"/>
              <a:t> </a:t>
            </a:r>
            <a:r>
              <a:rPr lang="en-US" sz="2400" dirty="0"/>
              <a:t>(in the right </a:t>
            </a:r>
            <a:r>
              <a:rPr lang="en-US" sz="2400" dirty="0" smtClean="0"/>
              <a:t>null-space of </a:t>
            </a:r>
            <a:r>
              <a:rPr lang="en-US" sz="3600" dirty="0">
                <a:solidFill>
                  <a:srgbClr val="000000"/>
                </a:solidFill>
              </a:rPr>
              <a:t>ε</a:t>
            </a:r>
            <a:r>
              <a:rPr lang="en-US" sz="2400" dirty="0" smtClean="0"/>
              <a:t>).</a:t>
            </a:r>
            <a:endParaRPr lang="en-US" sz="2400" dirty="0"/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620240"/>
            <a:ext cx="2219325" cy="1866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126713" y="6400800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MVG Hartley &amp; </a:t>
            </a:r>
            <a:r>
              <a:rPr lang="en-US" sz="1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Zisserman</a:t>
            </a:r>
            <a:endParaRPr lang="en-US" sz="1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0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"/>
            <a:ext cx="7147925" cy="6030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172200" y="6400800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MVG Hartley &amp; </a:t>
            </a:r>
            <a:r>
              <a:rPr lang="en-US" sz="1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Zisserman</a:t>
            </a:r>
            <a:endParaRPr lang="en-US" sz="1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17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172200" y="6400800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MVG Hartley &amp; </a:t>
            </a:r>
            <a:r>
              <a:rPr lang="en-US" sz="1800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Zisserman</a:t>
            </a:r>
            <a:endParaRPr lang="en-US" sz="1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557" y="1371600"/>
            <a:ext cx="7344811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Epipoles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65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Essential Matrix</a:t>
            </a:r>
          </a:p>
        </p:txBody>
      </p:sp>
      <p:graphicFrame>
        <p:nvGraphicFramePr>
          <p:cNvPr id="501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829275"/>
              </p:ext>
            </p:extLst>
          </p:nvPr>
        </p:nvGraphicFramePr>
        <p:xfrm>
          <a:off x="3344863" y="1400175"/>
          <a:ext cx="25209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44" name="Equation" r:id="rId3" imgW="1269720" imgH="215640" progId="Equation.3">
                  <p:embed/>
                </p:oleObj>
              </mc:Choice>
              <mc:Fallback>
                <p:oleObj name="Equation" r:id="rId3" imgW="126972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4863" y="1400175"/>
                        <a:ext cx="25209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Text Box 7"/>
          <p:cNvSpPr txBox="1">
            <a:spLocks noChangeArrowheads="1"/>
          </p:cNvSpPr>
          <p:nvPr/>
        </p:nvSpPr>
        <p:spPr bwMode="auto">
          <a:xfrm>
            <a:off x="1706563" y="2806700"/>
            <a:ext cx="6904037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dirty="0"/>
              <a:t>The essential matrix </a:t>
            </a:r>
            <a:r>
              <a:rPr lang="el-GR" sz="3600" dirty="0" smtClean="0"/>
              <a:t>ε</a:t>
            </a:r>
            <a:r>
              <a:rPr lang="en-US" dirty="0" smtClean="0"/>
              <a:t> </a:t>
            </a:r>
            <a:r>
              <a:rPr lang="en-US" dirty="0"/>
              <a:t>= [t]×R has 5 degrees of </a:t>
            </a:r>
            <a:r>
              <a:rPr lang="en-US" dirty="0" smtClean="0"/>
              <a:t>freedom; </a:t>
            </a:r>
            <a:r>
              <a:rPr lang="en-US" dirty="0"/>
              <a:t>3 </a:t>
            </a:r>
            <a:r>
              <a:rPr lang="en-US" dirty="0" smtClean="0"/>
              <a:t>rotation angles </a:t>
            </a:r>
            <a:r>
              <a:rPr lang="en-US" dirty="0"/>
              <a:t>in R, 3 elements in t, but arbitrary scale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Essential </a:t>
            </a:r>
            <a:r>
              <a:rPr lang="en-US" dirty="0"/>
              <a:t>Matrix is singular with rank </a:t>
            </a:r>
            <a:r>
              <a:rPr lang="en-US" dirty="0" smtClean="0"/>
              <a:t>2.</a:t>
            </a:r>
            <a:endParaRPr lang="en-US" dirty="0"/>
          </a:p>
        </p:txBody>
      </p:sp>
      <p:sp>
        <p:nvSpPr>
          <p:cNvPr id="50184" name="Text Box 8"/>
          <p:cNvSpPr txBox="1">
            <a:spLocks noChangeArrowheads="1"/>
          </p:cNvSpPr>
          <p:nvPr/>
        </p:nvSpPr>
        <p:spPr bwMode="auto">
          <a:xfrm>
            <a:off x="1730375" y="2079625"/>
            <a:ext cx="1468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Similarly, </a:t>
            </a:r>
          </a:p>
        </p:txBody>
      </p:sp>
      <p:graphicFrame>
        <p:nvGraphicFramePr>
          <p:cNvPr id="50185" name="Object 9"/>
          <p:cNvGraphicFramePr>
            <a:graphicFrameLocks noChangeAspect="1"/>
          </p:cNvGraphicFramePr>
          <p:nvPr/>
        </p:nvGraphicFramePr>
        <p:xfrm>
          <a:off x="3122613" y="2073275"/>
          <a:ext cx="43815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45" name="Equation" r:id="rId5" imgW="126835" imgH="139518" progId="Equation.3">
                  <p:embed/>
                </p:oleObj>
              </mc:Choice>
              <mc:Fallback>
                <p:oleObj name="Equation" r:id="rId5" imgW="126835" imgH="139518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2613" y="2073275"/>
                        <a:ext cx="43815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6" name="Object 10"/>
          <p:cNvGraphicFramePr>
            <a:graphicFrameLocks noChangeAspect="1"/>
          </p:cNvGraphicFramePr>
          <p:nvPr/>
        </p:nvGraphicFramePr>
        <p:xfrm>
          <a:off x="3406775" y="2073275"/>
          <a:ext cx="345122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46" name="Equation" r:id="rId7" imgW="1739900" imgH="241300" progId="Equation.3">
                  <p:embed/>
                </p:oleObj>
              </mc:Choice>
              <mc:Fallback>
                <p:oleObj name="Equation" r:id="rId7" imgW="1739900" imgH="2413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775" y="2073275"/>
                        <a:ext cx="345122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What if Camera Calibration is not 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57225" y="0"/>
            <a:ext cx="7772400" cy="1143000"/>
          </a:xfrm>
        </p:spPr>
        <p:txBody>
          <a:bodyPr/>
          <a:lstStyle/>
          <a:p>
            <a:r>
              <a:rPr lang="en-US" smtClean="0"/>
              <a:t>Review: Intrinsic Camera Parameters</a:t>
            </a:r>
          </a:p>
        </p:txBody>
      </p:sp>
      <p:sp>
        <p:nvSpPr>
          <p:cNvPr id="58371" name="Line 3"/>
          <p:cNvSpPr>
            <a:spLocks noChangeShapeType="1"/>
          </p:cNvSpPr>
          <p:nvPr/>
        </p:nvSpPr>
        <p:spPr bwMode="auto">
          <a:xfrm>
            <a:off x="1828800" y="23622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72" name="Line 4"/>
          <p:cNvSpPr>
            <a:spLocks noChangeShapeType="1"/>
          </p:cNvSpPr>
          <p:nvPr/>
        </p:nvSpPr>
        <p:spPr bwMode="auto">
          <a:xfrm>
            <a:off x="1828800" y="2362200"/>
            <a:ext cx="10668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73" name="Line 5"/>
          <p:cNvSpPr>
            <a:spLocks noChangeShapeType="1"/>
          </p:cNvSpPr>
          <p:nvPr/>
        </p:nvSpPr>
        <p:spPr bwMode="auto">
          <a:xfrm>
            <a:off x="1828800" y="3810000"/>
            <a:ext cx="10668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74" name="Line 6"/>
          <p:cNvSpPr>
            <a:spLocks noChangeShapeType="1"/>
          </p:cNvSpPr>
          <p:nvPr/>
        </p:nvSpPr>
        <p:spPr bwMode="auto">
          <a:xfrm>
            <a:off x="2909888" y="3000375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75" name="Line 7"/>
          <p:cNvSpPr>
            <a:spLocks noChangeShapeType="1"/>
          </p:cNvSpPr>
          <p:nvPr/>
        </p:nvSpPr>
        <p:spPr bwMode="auto">
          <a:xfrm>
            <a:off x="5024438" y="1743075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76" name="Line 8"/>
          <p:cNvSpPr>
            <a:spLocks noChangeShapeType="1"/>
          </p:cNvSpPr>
          <p:nvPr/>
        </p:nvSpPr>
        <p:spPr bwMode="auto">
          <a:xfrm>
            <a:off x="5024438" y="1743075"/>
            <a:ext cx="10668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77" name="Line 9"/>
          <p:cNvSpPr>
            <a:spLocks noChangeShapeType="1"/>
          </p:cNvSpPr>
          <p:nvPr/>
        </p:nvSpPr>
        <p:spPr bwMode="auto">
          <a:xfrm>
            <a:off x="5024438" y="3190875"/>
            <a:ext cx="10668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78" name="Line 10"/>
          <p:cNvSpPr>
            <a:spLocks noChangeShapeType="1"/>
          </p:cNvSpPr>
          <p:nvPr/>
        </p:nvSpPr>
        <p:spPr bwMode="auto">
          <a:xfrm>
            <a:off x="6105525" y="238125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79" name="Line 11"/>
          <p:cNvSpPr>
            <a:spLocks noChangeShapeType="1"/>
          </p:cNvSpPr>
          <p:nvPr/>
        </p:nvSpPr>
        <p:spPr bwMode="auto">
          <a:xfrm>
            <a:off x="5472113" y="1728788"/>
            <a:ext cx="0" cy="1000125"/>
          </a:xfrm>
          <a:prstGeom prst="line">
            <a:avLst/>
          </a:prstGeom>
          <a:noFill/>
          <a:ln w="9525">
            <a:solidFill>
              <a:srgbClr val="0F29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80" name="Line 12"/>
          <p:cNvSpPr>
            <a:spLocks noChangeShapeType="1"/>
          </p:cNvSpPr>
          <p:nvPr/>
        </p:nvSpPr>
        <p:spPr bwMode="auto">
          <a:xfrm>
            <a:off x="5491163" y="2743200"/>
            <a:ext cx="823912" cy="452438"/>
          </a:xfrm>
          <a:prstGeom prst="line">
            <a:avLst/>
          </a:prstGeom>
          <a:noFill/>
          <a:ln w="9525">
            <a:solidFill>
              <a:srgbClr val="0F29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81" name="Line 13"/>
          <p:cNvSpPr>
            <a:spLocks noChangeShapeType="1"/>
          </p:cNvSpPr>
          <p:nvPr/>
        </p:nvSpPr>
        <p:spPr bwMode="auto">
          <a:xfrm flipH="1">
            <a:off x="2243138" y="2743200"/>
            <a:ext cx="3214687" cy="628650"/>
          </a:xfrm>
          <a:prstGeom prst="line">
            <a:avLst/>
          </a:prstGeom>
          <a:noFill/>
          <a:ln w="9525">
            <a:solidFill>
              <a:srgbClr val="0F29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82" name="Line 14"/>
          <p:cNvSpPr>
            <a:spLocks noChangeShapeType="1"/>
          </p:cNvSpPr>
          <p:nvPr/>
        </p:nvSpPr>
        <p:spPr bwMode="auto">
          <a:xfrm>
            <a:off x="2224088" y="2781300"/>
            <a:ext cx="0" cy="571500"/>
          </a:xfrm>
          <a:prstGeom prst="line">
            <a:avLst/>
          </a:prstGeom>
          <a:noFill/>
          <a:ln w="9525">
            <a:solidFill>
              <a:srgbClr val="0F29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83" name="Line 15"/>
          <p:cNvSpPr>
            <a:spLocks noChangeShapeType="1"/>
          </p:cNvSpPr>
          <p:nvPr/>
        </p:nvSpPr>
        <p:spPr bwMode="auto">
          <a:xfrm>
            <a:off x="2243138" y="3367088"/>
            <a:ext cx="481012" cy="266700"/>
          </a:xfrm>
          <a:prstGeom prst="line">
            <a:avLst/>
          </a:prstGeom>
          <a:noFill/>
          <a:ln w="9525">
            <a:solidFill>
              <a:srgbClr val="0F29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84" name="Line 16"/>
          <p:cNvSpPr>
            <a:spLocks noChangeShapeType="1"/>
          </p:cNvSpPr>
          <p:nvPr/>
        </p:nvSpPr>
        <p:spPr bwMode="auto">
          <a:xfrm flipH="1">
            <a:off x="2757488" y="1985963"/>
            <a:ext cx="4186237" cy="2157412"/>
          </a:xfrm>
          <a:prstGeom prst="line">
            <a:avLst/>
          </a:prstGeom>
          <a:noFill/>
          <a:ln w="9525">
            <a:solidFill>
              <a:srgbClr val="2B713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85" name="Text Box 17"/>
          <p:cNvSpPr txBox="1">
            <a:spLocks noChangeArrowheads="1"/>
          </p:cNvSpPr>
          <p:nvPr/>
        </p:nvSpPr>
        <p:spPr bwMode="auto">
          <a:xfrm>
            <a:off x="6394450" y="2989263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>
                <a:solidFill>
                  <a:srgbClr val="0F2995"/>
                </a:solidFill>
                <a:cs typeface="Times New Roman" pitchFamily="18" charset="0"/>
              </a:rPr>
              <a:t>X</a:t>
            </a:r>
          </a:p>
        </p:txBody>
      </p:sp>
      <p:sp>
        <p:nvSpPr>
          <p:cNvPr id="58386" name="Text Box 18"/>
          <p:cNvSpPr txBox="1">
            <a:spLocks noChangeArrowheads="1"/>
          </p:cNvSpPr>
          <p:nvPr/>
        </p:nvSpPr>
        <p:spPr bwMode="auto">
          <a:xfrm>
            <a:off x="5432425" y="1541463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>
                <a:solidFill>
                  <a:srgbClr val="0F2995"/>
                </a:solidFill>
                <a:cs typeface="Times New Roman" pitchFamily="18" charset="0"/>
              </a:rPr>
              <a:t>Y</a:t>
            </a:r>
          </a:p>
        </p:txBody>
      </p:sp>
      <p:sp>
        <p:nvSpPr>
          <p:cNvPr id="58387" name="Text Box 19"/>
          <p:cNvSpPr txBox="1">
            <a:spLocks noChangeArrowheads="1"/>
          </p:cNvSpPr>
          <p:nvPr/>
        </p:nvSpPr>
        <p:spPr bwMode="auto">
          <a:xfrm>
            <a:off x="3260725" y="2784475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>
                <a:solidFill>
                  <a:srgbClr val="0F2995"/>
                </a:solidFill>
                <a:cs typeface="Times New Roman" pitchFamily="18" charset="0"/>
              </a:rPr>
              <a:t>Z</a:t>
            </a:r>
          </a:p>
        </p:txBody>
      </p:sp>
      <p:sp>
        <p:nvSpPr>
          <p:cNvPr id="58388" name="Text Box 20"/>
          <p:cNvSpPr txBox="1">
            <a:spLocks noChangeArrowheads="1"/>
          </p:cNvSpPr>
          <p:nvPr/>
        </p:nvSpPr>
        <p:spPr bwMode="auto">
          <a:xfrm>
            <a:off x="5346700" y="2741613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>
                <a:solidFill>
                  <a:srgbClr val="FF1D17"/>
                </a:solidFill>
                <a:cs typeface="Times New Roman" pitchFamily="18" charset="0"/>
              </a:rPr>
              <a:t>C</a:t>
            </a:r>
          </a:p>
        </p:txBody>
      </p:sp>
      <p:sp>
        <p:nvSpPr>
          <p:cNvPr id="58389" name="Text Box 21"/>
          <p:cNvSpPr txBox="1">
            <a:spLocks noChangeArrowheads="1"/>
          </p:cNvSpPr>
          <p:nvPr/>
        </p:nvSpPr>
        <p:spPr bwMode="auto">
          <a:xfrm>
            <a:off x="1465263" y="1846263"/>
            <a:ext cx="1679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>
                <a:cs typeface="Times New Roman" pitchFamily="18" charset="0"/>
              </a:rPr>
              <a:t>Image plane</a:t>
            </a:r>
          </a:p>
        </p:txBody>
      </p:sp>
      <p:sp>
        <p:nvSpPr>
          <p:cNvPr id="58390" name="Text Box 22"/>
          <p:cNvSpPr txBox="1">
            <a:spLocks noChangeArrowheads="1"/>
          </p:cNvSpPr>
          <p:nvPr/>
        </p:nvSpPr>
        <p:spPr bwMode="auto">
          <a:xfrm>
            <a:off x="5637213" y="3775075"/>
            <a:ext cx="1595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>
                <a:cs typeface="Times New Roman" pitchFamily="18" charset="0"/>
              </a:rPr>
              <a:t>Focal plane</a:t>
            </a:r>
          </a:p>
        </p:txBody>
      </p: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6932613" y="1641475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>
                <a:solidFill>
                  <a:srgbClr val="2B7130"/>
                </a:solidFill>
                <a:cs typeface="Times New Roman" pitchFamily="18" charset="0"/>
              </a:rPr>
              <a:t>M</a:t>
            </a:r>
          </a:p>
        </p:txBody>
      </p:sp>
      <p:sp>
        <p:nvSpPr>
          <p:cNvPr id="58392" name="Text Box 24"/>
          <p:cNvSpPr txBox="1">
            <a:spLocks noChangeArrowheads="1"/>
          </p:cNvSpPr>
          <p:nvPr/>
        </p:nvSpPr>
        <p:spPr bwMode="auto">
          <a:xfrm>
            <a:off x="2513013" y="3822700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>
                <a:solidFill>
                  <a:srgbClr val="2B7130"/>
                </a:solidFill>
                <a:cs typeface="Times New Roman" pitchFamily="18" charset="0"/>
              </a:rPr>
              <a:t>m</a:t>
            </a:r>
          </a:p>
        </p:txBody>
      </p:sp>
      <p:graphicFrame>
        <p:nvGraphicFramePr>
          <p:cNvPr id="58393" name="Object 25"/>
          <p:cNvGraphicFramePr>
            <a:graphicFrameLocks noChangeAspect="1"/>
          </p:cNvGraphicFramePr>
          <p:nvPr/>
        </p:nvGraphicFramePr>
        <p:xfrm>
          <a:off x="7313613" y="1728788"/>
          <a:ext cx="1527175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69" name="Equation" r:id="rId3" imgW="990482" imgH="219143" progId="Equation.3">
                  <p:embed/>
                </p:oleObj>
              </mc:Choice>
              <mc:Fallback>
                <p:oleObj name="Equation" r:id="rId3" imgW="990482" imgH="219143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3613" y="1728788"/>
                        <a:ext cx="1527175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94" name="Line 26"/>
          <p:cNvSpPr>
            <a:spLocks noChangeShapeType="1"/>
          </p:cNvSpPr>
          <p:nvPr/>
        </p:nvSpPr>
        <p:spPr bwMode="auto">
          <a:xfrm>
            <a:off x="1962150" y="3162300"/>
            <a:ext cx="0" cy="571500"/>
          </a:xfrm>
          <a:prstGeom prst="line">
            <a:avLst/>
          </a:prstGeom>
          <a:noFill/>
          <a:ln w="9525">
            <a:solidFill>
              <a:srgbClr val="FF1D1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95" name="Line 27"/>
          <p:cNvSpPr>
            <a:spLocks noChangeShapeType="1"/>
          </p:cNvSpPr>
          <p:nvPr/>
        </p:nvSpPr>
        <p:spPr bwMode="auto">
          <a:xfrm>
            <a:off x="1981200" y="3748088"/>
            <a:ext cx="481013" cy="266700"/>
          </a:xfrm>
          <a:prstGeom prst="line">
            <a:avLst/>
          </a:prstGeom>
          <a:noFill/>
          <a:ln w="9525">
            <a:solidFill>
              <a:srgbClr val="FF1D1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96" name="Text Box 28"/>
          <p:cNvSpPr txBox="1">
            <a:spLocks noChangeArrowheads="1"/>
          </p:cNvSpPr>
          <p:nvPr/>
        </p:nvSpPr>
        <p:spPr bwMode="auto">
          <a:xfrm>
            <a:off x="2203450" y="38846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>
                <a:solidFill>
                  <a:srgbClr val="FF1D17"/>
                </a:solidFill>
                <a:cs typeface="Times New Roman" pitchFamily="18" charset="0"/>
              </a:rPr>
              <a:t>u</a:t>
            </a:r>
          </a:p>
        </p:txBody>
      </p:sp>
      <p:sp>
        <p:nvSpPr>
          <p:cNvPr id="58397" name="Text Box 29"/>
          <p:cNvSpPr txBox="1">
            <a:spLocks noChangeArrowheads="1"/>
          </p:cNvSpPr>
          <p:nvPr/>
        </p:nvSpPr>
        <p:spPr bwMode="auto">
          <a:xfrm>
            <a:off x="1627188" y="28511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>
                <a:solidFill>
                  <a:srgbClr val="FF1D17"/>
                </a:solidFill>
                <a:cs typeface="Times New Roman" pitchFamily="18" charset="0"/>
              </a:rPr>
              <a:t>v</a:t>
            </a:r>
          </a:p>
        </p:txBody>
      </p:sp>
      <p:sp>
        <p:nvSpPr>
          <p:cNvPr id="58398" name="Line 30"/>
          <p:cNvSpPr>
            <a:spLocks noChangeShapeType="1"/>
          </p:cNvSpPr>
          <p:nvPr/>
        </p:nvSpPr>
        <p:spPr bwMode="auto">
          <a:xfrm>
            <a:off x="2271713" y="3386138"/>
            <a:ext cx="200025" cy="10001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399" name="Line 31"/>
          <p:cNvSpPr>
            <a:spLocks noChangeShapeType="1"/>
          </p:cNvSpPr>
          <p:nvPr/>
        </p:nvSpPr>
        <p:spPr bwMode="auto">
          <a:xfrm flipV="1">
            <a:off x="2228850" y="3128963"/>
            <a:ext cx="0" cy="21431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58400" name="Object 32"/>
          <p:cNvGraphicFramePr>
            <a:graphicFrameLocks noChangeAspect="1"/>
          </p:cNvGraphicFramePr>
          <p:nvPr/>
        </p:nvGraphicFramePr>
        <p:xfrm>
          <a:off x="2398713" y="3489325"/>
          <a:ext cx="136525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70" name="Equation" r:id="rId5" imgW="88707" imgH="164742" progId="Equation.3">
                  <p:embed/>
                </p:oleObj>
              </mc:Choice>
              <mc:Fallback>
                <p:oleObj name="Equation" r:id="rId5" imgW="88707" imgH="164742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713" y="3489325"/>
                        <a:ext cx="136525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01" name="Object 33"/>
          <p:cNvGraphicFramePr>
            <a:graphicFrameLocks noChangeAspect="1"/>
          </p:cNvGraphicFramePr>
          <p:nvPr/>
        </p:nvGraphicFramePr>
        <p:xfrm>
          <a:off x="2251075" y="2936875"/>
          <a:ext cx="195263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71" name="Equation" r:id="rId7" imgW="126890" imgH="190335" progId="Equation.3">
                  <p:embed/>
                </p:oleObj>
              </mc:Choice>
              <mc:Fallback>
                <p:oleObj name="Equation" r:id="rId7" imgW="126890" imgH="190335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1075" y="2936875"/>
                        <a:ext cx="195263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02" name="Line 34"/>
          <p:cNvSpPr>
            <a:spLocks noChangeShapeType="1"/>
          </p:cNvSpPr>
          <p:nvPr/>
        </p:nvSpPr>
        <p:spPr bwMode="auto">
          <a:xfrm>
            <a:off x="1995488" y="3752850"/>
            <a:ext cx="200025" cy="100013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403" name="Line 35"/>
          <p:cNvSpPr>
            <a:spLocks noChangeShapeType="1"/>
          </p:cNvSpPr>
          <p:nvPr/>
        </p:nvSpPr>
        <p:spPr bwMode="auto">
          <a:xfrm flipV="1">
            <a:off x="1952625" y="3495675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58404" name="Object 36"/>
          <p:cNvGraphicFramePr>
            <a:graphicFrameLocks noChangeAspect="1"/>
          </p:cNvGraphicFramePr>
          <p:nvPr/>
        </p:nvGraphicFramePr>
        <p:xfrm>
          <a:off x="2093913" y="3856038"/>
          <a:ext cx="195262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72" name="Equation" r:id="rId9" imgW="126780" imgH="164814" progId="Equation.3">
                  <p:embed/>
                </p:oleObj>
              </mc:Choice>
              <mc:Fallback>
                <p:oleObj name="Equation" r:id="rId9" imgW="126780" imgH="164814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913" y="3856038"/>
                        <a:ext cx="195262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05" name="Object 37"/>
          <p:cNvGraphicFramePr>
            <a:graphicFrameLocks noChangeAspect="1"/>
          </p:cNvGraphicFramePr>
          <p:nvPr/>
        </p:nvGraphicFramePr>
        <p:xfrm>
          <a:off x="1965325" y="3313113"/>
          <a:ext cx="2159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73" name="Equation" r:id="rId11" imgW="139579" imgH="177646" progId="Equation.3">
                  <p:embed/>
                </p:oleObj>
              </mc:Choice>
              <mc:Fallback>
                <p:oleObj name="Equation" r:id="rId11" imgW="139579" imgH="177646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325" y="3313113"/>
                        <a:ext cx="21590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07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333514"/>
              </p:ext>
            </p:extLst>
          </p:nvPr>
        </p:nvGraphicFramePr>
        <p:xfrm>
          <a:off x="3111037" y="4143375"/>
          <a:ext cx="88741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74" name="Equation" r:id="rId13" imgW="571390" imgH="219143" progId="Equation.3">
                  <p:embed/>
                </p:oleObj>
              </mc:Choice>
              <mc:Fallback>
                <p:oleObj name="Equation" r:id="rId13" imgW="571390" imgH="219143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037" y="4143375"/>
                        <a:ext cx="887412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09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061461"/>
              </p:ext>
            </p:extLst>
          </p:nvPr>
        </p:nvGraphicFramePr>
        <p:xfrm>
          <a:off x="2408238" y="4692650"/>
          <a:ext cx="4440237" cy="187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75" name="Equation" r:id="rId15" imgW="2222280" imgH="939600" progId="Equation.3">
                  <p:embed/>
                </p:oleObj>
              </mc:Choice>
              <mc:Fallback>
                <p:oleObj name="Equation" r:id="rId15" imgW="2222280" imgH="9396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8" y="4692650"/>
                        <a:ext cx="4440237" cy="187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1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97189"/>
              </p:ext>
            </p:extLst>
          </p:nvPr>
        </p:nvGraphicFramePr>
        <p:xfrm>
          <a:off x="7205663" y="4953000"/>
          <a:ext cx="1595437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76" name="Equation" r:id="rId17" imgW="799920" imgH="647640" progId="Equation.3">
                  <p:embed/>
                </p:oleObj>
              </mc:Choice>
              <mc:Fallback>
                <p:oleObj name="Equation" r:id="rId17" imgW="799920" imgH="64764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5663" y="4953000"/>
                        <a:ext cx="1595437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11" name="Text Box 43"/>
          <p:cNvSpPr txBox="1">
            <a:spLocks noChangeArrowheads="1"/>
          </p:cNvSpPr>
          <p:nvPr/>
        </p:nvSpPr>
        <p:spPr bwMode="auto">
          <a:xfrm>
            <a:off x="4514850" y="6281738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az-Cyrl-AZ" i="1"/>
              <a:t>Қ</a:t>
            </a:r>
            <a:endParaRPr lang="en-US" i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Fundamental Matrix</a:t>
            </a:r>
          </a:p>
        </p:txBody>
      </p:sp>
      <p:graphicFrame>
        <p:nvGraphicFramePr>
          <p:cNvPr id="59395" name="Object 3"/>
          <p:cNvGraphicFramePr>
            <a:graphicFrameLocks noChangeAspect="1"/>
          </p:cNvGraphicFramePr>
          <p:nvPr/>
        </p:nvGraphicFramePr>
        <p:xfrm>
          <a:off x="1882775" y="1341438"/>
          <a:ext cx="420688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47" name="Equation" r:id="rId3" imgW="126835" imgH="139518" progId="Equation.3">
                  <p:embed/>
                </p:oleObj>
              </mc:Choice>
              <mc:Fallback>
                <p:oleObj name="Equation" r:id="rId3" imgW="126835" imgH="13951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775" y="1341438"/>
                        <a:ext cx="420688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6" name="Object 4"/>
          <p:cNvGraphicFramePr>
            <a:graphicFrameLocks noChangeAspect="1"/>
          </p:cNvGraphicFramePr>
          <p:nvPr/>
        </p:nvGraphicFramePr>
        <p:xfrm>
          <a:off x="1595438" y="1368425"/>
          <a:ext cx="41275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48" name="Equation" r:id="rId5" imgW="215806" imgH="228501" progId="Equation.3">
                  <p:embed/>
                </p:oleObj>
              </mc:Choice>
              <mc:Fallback>
                <p:oleObj name="Equation" r:id="rId5" imgW="215806" imgH="22850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1368425"/>
                        <a:ext cx="41275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7" name="Object 5"/>
          <p:cNvGraphicFramePr>
            <a:graphicFrameLocks noChangeAspect="1"/>
          </p:cNvGraphicFramePr>
          <p:nvPr/>
        </p:nvGraphicFramePr>
        <p:xfrm>
          <a:off x="2127250" y="1441450"/>
          <a:ext cx="77787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49" name="Equation" r:id="rId7" imgW="406048" imgH="203024" progId="Equation.3">
                  <p:embed/>
                </p:oleObj>
              </mc:Choice>
              <mc:Fallback>
                <p:oleObj name="Equation" r:id="rId7" imgW="406048" imgH="20302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0" y="1441450"/>
                        <a:ext cx="777875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0504962"/>
              </p:ext>
            </p:extLst>
          </p:nvPr>
        </p:nvGraphicFramePr>
        <p:xfrm>
          <a:off x="3263900" y="1431925"/>
          <a:ext cx="500538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50" name="Equation" r:id="rId9" imgW="2616120" imgH="203040" progId="Equation.3">
                  <p:embed/>
                </p:oleObj>
              </mc:Choice>
              <mc:Fallback>
                <p:oleObj name="Equation" r:id="rId9" imgW="261612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0" y="1431925"/>
                        <a:ext cx="5005388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1662113" y="2055813"/>
            <a:ext cx="740568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If </a:t>
            </a:r>
            <a:r>
              <a:rPr lang="en-US" i="1"/>
              <a:t>u</a:t>
            </a:r>
            <a:r>
              <a:rPr lang="en-US"/>
              <a:t> and </a:t>
            </a:r>
            <a:r>
              <a:rPr lang="en-US" i="1"/>
              <a:t>u’</a:t>
            </a:r>
            <a:r>
              <a:rPr lang="en-US"/>
              <a:t> are corresponding image coordinates then we have:</a:t>
            </a:r>
          </a:p>
        </p:txBody>
      </p:sp>
      <p:graphicFrame>
        <p:nvGraphicFramePr>
          <p:cNvPr id="59400" name="Object 8"/>
          <p:cNvGraphicFramePr>
            <a:graphicFrameLocks noChangeAspect="1"/>
          </p:cNvGraphicFramePr>
          <p:nvPr/>
        </p:nvGraphicFramePr>
        <p:xfrm>
          <a:off x="1995488" y="2971800"/>
          <a:ext cx="121126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51" name="Equation" r:id="rId11" imgW="609600" imgH="457200" progId="Equation.3">
                  <p:embed/>
                </p:oleObj>
              </mc:Choice>
              <mc:Fallback>
                <p:oleObj name="Equation" r:id="rId11" imgW="609600" imgH="457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488" y="2971800"/>
                        <a:ext cx="1211262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171889"/>
              </p:ext>
            </p:extLst>
          </p:nvPr>
        </p:nvGraphicFramePr>
        <p:xfrm>
          <a:off x="4283075" y="2898775"/>
          <a:ext cx="44037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52" name="Equation" r:id="rId13" imgW="2209680" imgH="507960" progId="Equation.3">
                  <p:embed/>
                </p:oleObj>
              </mc:Choice>
              <mc:Fallback>
                <p:oleObj name="Equation" r:id="rId13" imgW="2209680" imgH="5079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075" y="2898775"/>
                        <a:ext cx="440372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2" name="Line 10"/>
          <p:cNvSpPr>
            <a:spLocks noChangeShapeType="1"/>
          </p:cNvSpPr>
          <p:nvPr/>
        </p:nvSpPr>
        <p:spPr bwMode="auto">
          <a:xfrm>
            <a:off x="3290888" y="3470275"/>
            <a:ext cx="750887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5940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413745"/>
              </p:ext>
            </p:extLst>
          </p:nvPr>
        </p:nvGraphicFramePr>
        <p:xfrm>
          <a:off x="2714625" y="4075113"/>
          <a:ext cx="43815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53" name="Equation" r:id="rId15" imgW="126720" imgH="139680" progId="Equation.3">
                  <p:embed/>
                </p:oleObj>
              </mc:Choice>
              <mc:Fallback>
                <p:oleObj name="Equation" r:id="rId15" imgW="126720" imgH="1396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4075113"/>
                        <a:ext cx="43815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4" name="Object 12"/>
          <p:cNvGraphicFramePr>
            <a:graphicFrameLocks noChangeAspect="1"/>
          </p:cNvGraphicFramePr>
          <p:nvPr/>
        </p:nvGraphicFramePr>
        <p:xfrm>
          <a:off x="2003425" y="4056063"/>
          <a:ext cx="8858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54" name="Equation" r:id="rId17" imgW="444307" imgH="228501" progId="Equation.3">
                  <p:embed/>
                </p:oleObj>
              </mc:Choice>
              <mc:Fallback>
                <p:oleObj name="Equation" r:id="rId17" imgW="444307" imgH="22850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425" y="4056063"/>
                        <a:ext cx="88582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5" name="Object 13"/>
          <p:cNvGraphicFramePr>
            <a:graphicFrameLocks noChangeAspect="1"/>
          </p:cNvGraphicFramePr>
          <p:nvPr/>
        </p:nvGraphicFramePr>
        <p:xfrm>
          <a:off x="3022600" y="4079875"/>
          <a:ext cx="12144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55" name="Equation" r:id="rId19" imgW="609600" imgH="228600" progId="Equation.3">
                  <p:embed/>
                </p:oleObj>
              </mc:Choice>
              <mc:Fallback>
                <p:oleObj name="Equation" r:id="rId19" imgW="6096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4079875"/>
                        <a:ext cx="1214438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6" name="Object 14"/>
          <p:cNvGraphicFramePr>
            <a:graphicFrameLocks noChangeAspect="1"/>
          </p:cNvGraphicFramePr>
          <p:nvPr/>
        </p:nvGraphicFramePr>
        <p:xfrm>
          <a:off x="1990725" y="5010150"/>
          <a:ext cx="20208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56" name="Equation" r:id="rId21" imgW="812447" imgH="203112" progId="Equation.3">
                  <p:embed/>
                </p:oleObj>
              </mc:Choice>
              <mc:Fallback>
                <p:oleObj name="Equation" r:id="rId21" imgW="812447" imgH="203112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25" y="5010150"/>
                        <a:ext cx="202088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7" name="Rectangle 15"/>
          <p:cNvSpPr>
            <a:spLocks noChangeArrowheads="1"/>
          </p:cNvSpPr>
          <p:nvPr/>
        </p:nvSpPr>
        <p:spPr bwMode="auto">
          <a:xfrm>
            <a:off x="1866900" y="4838700"/>
            <a:ext cx="2743200" cy="1017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9408" name="Object 16"/>
          <p:cNvGraphicFramePr>
            <a:graphicFrameLocks noChangeAspect="1"/>
          </p:cNvGraphicFramePr>
          <p:nvPr/>
        </p:nvGraphicFramePr>
        <p:xfrm>
          <a:off x="6559550" y="5108575"/>
          <a:ext cx="43815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57" name="Equation" r:id="rId23" imgW="126835" imgH="139518" progId="Equation.3">
                  <p:embed/>
                </p:oleObj>
              </mc:Choice>
              <mc:Fallback>
                <p:oleObj name="Equation" r:id="rId23" imgW="126835" imgH="139518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9550" y="5108575"/>
                        <a:ext cx="43815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9" name="Object 17"/>
          <p:cNvGraphicFramePr>
            <a:graphicFrameLocks noChangeAspect="1"/>
          </p:cNvGraphicFramePr>
          <p:nvPr/>
        </p:nvGraphicFramePr>
        <p:xfrm>
          <a:off x="5632450" y="5111750"/>
          <a:ext cx="11128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58" name="Equation" r:id="rId24" imgW="558800" imgH="228600" progId="Equation.3">
                  <p:embed/>
                </p:oleObj>
              </mc:Choice>
              <mc:Fallback>
                <p:oleObj name="Equation" r:id="rId24" imgW="55880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2450" y="5111750"/>
                        <a:ext cx="1112838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0" name="Object 18"/>
          <p:cNvGraphicFramePr>
            <a:graphicFrameLocks noChangeAspect="1"/>
          </p:cNvGraphicFramePr>
          <p:nvPr/>
        </p:nvGraphicFramePr>
        <p:xfrm>
          <a:off x="6862763" y="5099050"/>
          <a:ext cx="52863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59" name="Equation" r:id="rId26" imgW="266584" imgH="228501" progId="Equation.3">
                  <p:embed/>
                </p:oleObj>
              </mc:Choice>
              <mc:Fallback>
                <p:oleObj name="Equation" r:id="rId26" imgW="266584" imgH="22850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2763" y="5099050"/>
                        <a:ext cx="528637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2362200" y="4038600"/>
            <a:ext cx="11430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/>
          <p:cNvCxnSpPr>
            <a:stCxn id="2" idx="2"/>
            <a:endCxn id="59406" idx="0"/>
          </p:cNvCxnSpPr>
          <p:nvPr/>
        </p:nvCxnSpPr>
        <p:spPr>
          <a:xfrm>
            <a:off x="2933700" y="4572000"/>
            <a:ext cx="67469" cy="4381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Fundamental Matrix</a:t>
            </a:r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1581150" y="2590800"/>
            <a:ext cx="5607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Fundamental Matrix is singular with rank 2.</a:t>
            </a:r>
          </a:p>
        </p:txBody>
      </p:sp>
      <p:graphicFrame>
        <p:nvGraphicFramePr>
          <p:cNvPr id="604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838029"/>
              </p:ext>
            </p:extLst>
          </p:nvPr>
        </p:nvGraphicFramePr>
        <p:xfrm>
          <a:off x="3727450" y="1905000"/>
          <a:ext cx="1112838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18" name="Equation" r:id="rId3" imgW="558800" imgH="228600" progId="Equation.3">
                  <p:embed/>
                </p:oleObj>
              </mc:Choice>
              <mc:Fallback>
                <p:oleObj name="Equation" r:id="rId3" imgW="5588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450" y="1905000"/>
                        <a:ext cx="1112838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333173"/>
              </p:ext>
            </p:extLst>
          </p:nvPr>
        </p:nvGraphicFramePr>
        <p:xfrm>
          <a:off x="4956175" y="1892300"/>
          <a:ext cx="5302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19" name="Equation" r:id="rId5" imgW="266584" imgH="228501" progId="Equation.3">
                  <p:embed/>
                </p:oleObj>
              </mc:Choice>
              <mc:Fallback>
                <p:oleObj name="Equation" r:id="rId5" imgW="266584" imgH="22850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1892300"/>
                        <a:ext cx="53022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785914"/>
              </p:ext>
            </p:extLst>
          </p:nvPr>
        </p:nvGraphicFramePr>
        <p:xfrm>
          <a:off x="4643438" y="1890712"/>
          <a:ext cx="43815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20" name="Equation" r:id="rId7" imgW="126835" imgH="139518" progId="Equation.3">
                  <p:embed/>
                </p:oleObj>
              </mc:Choice>
              <mc:Fallback>
                <p:oleObj name="Equation" r:id="rId7" imgW="126835" imgH="13951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890712"/>
                        <a:ext cx="43815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3" name="Object 7"/>
          <p:cNvGraphicFramePr>
            <a:graphicFrameLocks noChangeAspect="1"/>
          </p:cNvGraphicFramePr>
          <p:nvPr/>
        </p:nvGraphicFramePr>
        <p:xfrm>
          <a:off x="1673225" y="1881188"/>
          <a:ext cx="15779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21" name="Equation" r:id="rId9" imgW="634725" imgH="203112" progId="Equation.3">
                  <p:embed/>
                </p:oleObj>
              </mc:Choice>
              <mc:Fallback>
                <p:oleObj name="Equation" r:id="rId9" imgW="634725" imgH="20311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225" y="1881188"/>
                        <a:ext cx="15779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4" name="Text Box 8"/>
          <p:cNvSpPr txBox="1">
            <a:spLocks noChangeArrowheads="1"/>
          </p:cNvSpPr>
          <p:nvPr/>
        </p:nvSpPr>
        <p:spPr bwMode="auto">
          <a:xfrm>
            <a:off x="1600200" y="3101876"/>
            <a:ext cx="719931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dirty="0"/>
              <a:t>The fundamental matrix F has 7 degrees of freedom: A 3 × </a:t>
            </a:r>
            <a:r>
              <a:rPr lang="en-US" dirty="0" smtClean="0"/>
              <a:t>3 homogenous </a:t>
            </a:r>
            <a:r>
              <a:rPr lang="en-US" dirty="0"/>
              <a:t>matrix has 8 degrees of freedom. The </a:t>
            </a:r>
            <a:r>
              <a:rPr lang="en-US" dirty="0" smtClean="0"/>
              <a:t>constraint rank(F</a:t>
            </a:r>
            <a:r>
              <a:rPr lang="en-US" dirty="0"/>
              <a:t>) = 2 or </a:t>
            </a:r>
            <a:r>
              <a:rPr lang="en-US" dirty="0" err="1"/>
              <a:t>det</a:t>
            </a:r>
            <a:r>
              <a:rPr lang="en-US" dirty="0"/>
              <a:t>(F) = 0 reduces the number to 7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</a:t>
            </a:r>
            <a:r>
              <a:rPr lang="en-US" dirty="0"/>
              <a:t>principal F has 7 parameters up to scale and can be estimated from 7 point correspondences.</a:t>
            </a:r>
          </a:p>
        </p:txBody>
      </p:sp>
      <p:sp>
        <p:nvSpPr>
          <p:cNvPr id="60425" name="Text Box 9"/>
          <p:cNvSpPr txBox="1">
            <a:spLocks noChangeArrowheads="1"/>
          </p:cNvSpPr>
          <p:nvPr/>
        </p:nvSpPr>
        <p:spPr bwMode="auto">
          <a:xfrm>
            <a:off x="1538230" y="5410200"/>
            <a:ext cx="653897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/>
              <a:t>Direct Simpler Method requires 8 </a:t>
            </a:r>
            <a:r>
              <a:rPr lang="en-US" dirty="0" smtClean="0"/>
              <a:t>correspondences </a:t>
            </a:r>
          </a:p>
          <a:p>
            <a:pPr eaLnBrk="1" hangingPunct="1"/>
            <a:r>
              <a:rPr lang="en-US" dirty="0" smtClean="0"/>
              <a:t>(Olivier </a:t>
            </a:r>
            <a:r>
              <a:rPr lang="en-US" dirty="0" err="1" smtClean="0"/>
              <a:t>Faugeras</a:t>
            </a:r>
            <a:r>
              <a:rPr lang="en-US" dirty="0" smtClean="0"/>
              <a:t>, Computer Vision textbook).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Estimating Fundamental Matrix</a:t>
            </a:r>
          </a:p>
        </p:txBody>
      </p:sp>
      <p:graphicFrame>
        <p:nvGraphicFramePr>
          <p:cNvPr id="61443" name="Object 3"/>
          <p:cNvGraphicFramePr>
            <a:graphicFrameLocks noChangeAspect="1"/>
          </p:cNvGraphicFramePr>
          <p:nvPr/>
        </p:nvGraphicFramePr>
        <p:xfrm>
          <a:off x="1687513" y="1219200"/>
          <a:ext cx="15779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0" name="Equation" r:id="rId3" imgW="634725" imgH="203112" progId="Equation.3">
                  <p:embed/>
                </p:oleObj>
              </mc:Choice>
              <mc:Fallback>
                <p:oleObj name="Equation" r:id="rId3" imgW="634725" imgH="203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1219200"/>
                        <a:ext cx="15779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1679575" y="1874838"/>
            <a:ext cx="70072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 smtClean="0"/>
              <a:t>Each </a:t>
            </a:r>
            <a:r>
              <a:rPr lang="en-US" dirty="0"/>
              <a:t>point correspondence can be expressed as a linear equation:</a:t>
            </a:r>
          </a:p>
        </p:txBody>
      </p:sp>
      <p:graphicFrame>
        <p:nvGraphicFramePr>
          <p:cNvPr id="61445" name="Object 5"/>
          <p:cNvGraphicFramePr>
            <a:graphicFrameLocks noChangeAspect="1"/>
          </p:cNvGraphicFramePr>
          <p:nvPr/>
        </p:nvGraphicFramePr>
        <p:xfrm>
          <a:off x="1749425" y="2749550"/>
          <a:ext cx="308927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1" name="Equation" r:id="rId5" imgW="2070100" imgH="711200" progId="Equation.3">
                  <p:embed/>
                </p:oleObj>
              </mc:Choice>
              <mc:Fallback>
                <p:oleObj name="Equation" r:id="rId5" imgW="2070100" imgH="71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25" y="2749550"/>
                        <a:ext cx="3089275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6"/>
          <p:cNvGraphicFramePr>
            <a:graphicFrameLocks noChangeAspect="1"/>
          </p:cNvGraphicFramePr>
          <p:nvPr/>
        </p:nvGraphicFramePr>
        <p:xfrm>
          <a:off x="1733550" y="3652838"/>
          <a:ext cx="4378325" cy="310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2" name="Equation" r:id="rId7" imgW="2933700" imgH="2082800" progId="Equation.3">
                  <p:embed/>
                </p:oleObj>
              </mc:Choice>
              <mc:Fallback>
                <p:oleObj name="Equation" r:id="rId7" imgW="2933700" imgH="2082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3652838"/>
                        <a:ext cx="4378325" cy="310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7" name="Text Box 7"/>
          <p:cNvSpPr txBox="1">
            <a:spLocks noChangeArrowheads="1"/>
          </p:cNvSpPr>
          <p:nvPr/>
        </p:nvSpPr>
        <p:spPr bwMode="auto">
          <a:xfrm>
            <a:off x="4191000" y="1219200"/>
            <a:ext cx="45865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b="1" dirty="0"/>
              <a:t>The 8-point </a:t>
            </a:r>
            <a:r>
              <a:rPr lang="en-US" b="1" dirty="0" smtClean="0"/>
              <a:t>algorithm (</a:t>
            </a:r>
            <a:r>
              <a:rPr lang="en-US" b="1" dirty="0" err="1" smtClean="0"/>
              <a:t>Faugeras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8-point Algorithm</a:t>
            </a:r>
          </a:p>
        </p:txBody>
      </p:sp>
      <p:pic>
        <p:nvPicPr>
          <p:cNvPr id="624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25" y="1743075"/>
            <a:ext cx="6696075" cy="450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981200" y="1298772"/>
            <a:ext cx="59602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Scaling: Set F</a:t>
            </a:r>
            <a:r>
              <a:rPr lang="en-US" baseline="-25000" dirty="0"/>
              <a:t>33</a:t>
            </a:r>
            <a:r>
              <a:rPr lang="en-US" dirty="0"/>
              <a:t> to </a:t>
            </a:r>
            <a:r>
              <a:rPr lang="en-US" dirty="0" smtClean="0"/>
              <a:t>1 -&gt; Solve for 8 parameters.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75" y="5105400"/>
            <a:ext cx="5429250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143000"/>
            <a:ext cx="6934200" cy="4100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419600" y="624840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http://www.cse.psu.edu/~rcollins/CSE486/lecture19_6pp.pdf</a:t>
            </a:r>
          </a:p>
        </p:txBody>
      </p:sp>
    </p:spTree>
    <p:extLst>
      <p:ext uri="{BB962C8B-B14F-4D97-AF65-F5344CB8AC3E}">
        <p14:creationId xmlns:p14="http://schemas.microsoft.com/office/powerpoint/2010/main" val="2761334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r>
              <a:rPr lang="en-US" dirty="0" err="1" smtClean="0"/>
              <a:t>ctd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639" y="1340526"/>
            <a:ext cx="7315200" cy="4598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419600" y="624840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http://www.cse.psu.edu/~rcollins/CSE486/lecture19_6pp.pdf</a:t>
            </a:r>
          </a:p>
        </p:txBody>
      </p:sp>
      <p:sp>
        <p:nvSpPr>
          <p:cNvPr id="3" name="Oval 2"/>
          <p:cNvSpPr/>
          <p:nvPr/>
        </p:nvSpPr>
        <p:spPr>
          <a:xfrm>
            <a:off x="2133600" y="5536474"/>
            <a:ext cx="2286000" cy="3309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343400" y="2743200"/>
            <a:ext cx="4038600" cy="279327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78099" y="495300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*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62600" y="5509736"/>
            <a:ext cx="28616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*</a:t>
            </a:r>
            <a:r>
              <a:rPr lang="en-US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refers to normal form of line: </a:t>
            </a:r>
          </a:p>
          <a:p>
            <a:r>
              <a:rPr lang="en-US" sz="1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 =  x </a:t>
            </a:r>
            <a:r>
              <a:rPr lang="en-US" sz="1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cos</a:t>
            </a:r>
            <a:r>
              <a:rPr lang="en-US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(phi) + y sin(phi)</a:t>
            </a:r>
            <a:endParaRPr 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81200" y="1066800"/>
            <a:ext cx="6824561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u</a:t>
            </a:r>
            <a:r>
              <a:rPr lang="en-US" sz="2000" baseline="30000" dirty="0" err="1" smtClean="0">
                <a:latin typeface="Arial" pitchFamily="34" charset="0"/>
                <a:cs typeface="Arial" pitchFamily="34" charset="0"/>
              </a:rPr>
              <a:t>T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Fu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’ = 0 → Fu’=l’, where l’ is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epipolar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line associated to u.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341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Left to Right</a:t>
            </a:r>
            <a:endParaRPr lang="en-US" dirty="0"/>
          </a:p>
        </p:txBody>
      </p:sp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371600"/>
            <a:ext cx="7192892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4419600" y="624840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http://www.cse.psu.edu/~rcollins/CSE486/lecture19_6pp.pdf</a:t>
            </a:r>
          </a:p>
        </p:txBody>
      </p:sp>
    </p:spTree>
    <p:extLst>
      <p:ext uri="{BB962C8B-B14F-4D97-AF65-F5344CB8AC3E}">
        <p14:creationId xmlns:p14="http://schemas.microsoft.com/office/powerpoint/2010/main" val="129567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Right to Left</a:t>
            </a:r>
            <a:endParaRPr lang="en-US" dirty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9" y="1219200"/>
            <a:ext cx="7321747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419600" y="624840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http://www.cse.psu.edu/~rcollins/CSE486/lecture19_6pp.pdf</a:t>
            </a:r>
          </a:p>
        </p:txBody>
      </p:sp>
    </p:spTree>
    <p:extLst>
      <p:ext uri="{BB962C8B-B14F-4D97-AF65-F5344CB8AC3E}">
        <p14:creationId xmlns:p14="http://schemas.microsoft.com/office/powerpoint/2010/main" val="298142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</a:t>
            </a:r>
            <a:r>
              <a:rPr lang="en-US" dirty="0" err="1" smtClean="0"/>
              <a:t>Epipoles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683" y="1316182"/>
            <a:ext cx="7213224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419600" y="624840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http://www.cse.psu.edu/~rcollins/CSE486/lecture19_6pp.pdf</a:t>
            </a:r>
          </a:p>
        </p:txBody>
      </p:sp>
    </p:spTree>
    <p:extLst>
      <p:ext uri="{BB962C8B-B14F-4D97-AF65-F5344CB8AC3E}">
        <p14:creationId xmlns:p14="http://schemas.microsoft.com/office/powerpoint/2010/main" val="2656458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</a:t>
            </a:r>
            <a:r>
              <a:rPr lang="en-US" dirty="0" err="1" smtClean="0"/>
              <a:t>Epipoles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221" y="1371600"/>
            <a:ext cx="7082579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419600" y="624840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http://www.cse.psu.edu/~rcollins/CSE486/lecture19_6pp.pdf</a:t>
            </a: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648200"/>
            <a:ext cx="1426461" cy="920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Straight Connector 3"/>
          <p:cNvCxnSpPr/>
          <p:nvPr/>
        </p:nvCxnSpPr>
        <p:spPr>
          <a:xfrm>
            <a:off x="6760461" y="4648200"/>
            <a:ext cx="2286000" cy="6858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74661" y="5334000"/>
            <a:ext cx="29718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11612" y="5253335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e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79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333399"/>
      </a:folHlink>
    </a:clrScheme>
    <a:fontScheme name="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9507</TotalTime>
  <Words>809</Words>
  <Application>Microsoft Office PowerPoint</Application>
  <PresentationFormat>On-screen Show (4:3)</PresentationFormat>
  <Paragraphs>168</Paragraphs>
  <Slides>41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Default Design</vt:lpstr>
      <vt:lpstr>Office Theme</vt:lpstr>
      <vt:lpstr>Equation</vt:lpstr>
      <vt:lpstr>Microsoft Equation 3.0</vt:lpstr>
      <vt:lpstr>Multi-View Geometry Part II (Ch7 New book. Ch 10/11 old book)</vt:lpstr>
      <vt:lpstr>Multi-View Geometry</vt:lpstr>
      <vt:lpstr>Multi-View Geometry</vt:lpstr>
      <vt:lpstr>Stereo</vt:lpstr>
      <vt:lpstr>Stereo</vt:lpstr>
      <vt:lpstr>Stereo Constraints</vt:lpstr>
      <vt:lpstr>Stereo Constraints</vt:lpstr>
      <vt:lpstr>Demo Epipolar Geometry</vt:lpstr>
      <vt:lpstr>PowerPoint Presentation</vt:lpstr>
      <vt:lpstr>Finding Correspondences</vt:lpstr>
      <vt:lpstr>PowerPoint Presentation</vt:lpstr>
      <vt:lpstr>Epipolar Constraint</vt:lpstr>
      <vt:lpstr>From Geometry to Algebra</vt:lpstr>
      <vt:lpstr>From Geometry to Algebra</vt:lpstr>
      <vt:lpstr>PowerPoint Presentation</vt:lpstr>
      <vt:lpstr>Review: Matrix Form of Cross Product</vt:lpstr>
      <vt:lpstr>Review: Matrix Form of Cross Product</vt:lpstr>
      <vt:lpstr>Matrix Form</vt:lpstr>
      <vt:lpstr>The Essential Matrix</vt:lpstr>
      <vt:lpstr>The Essential Matrix</vt:lpstr>
      <vt:lpstr>The Essential Matrix</vt:lpstr>
      <vt:lpstr>The Essential Matrix</vt:lpstr>
      <vt:lpstr>The Essential Matrix</vt:lpstr>
      <vt:lpstr>Pencil of epipolar lines</vt:lpstr>
      <vt:lpstr>Pencil of epipolar lines</vt:lpstr>
      <vt:lpstr>Epipoles</vt:lpstr>
      <vt:lpstr>PowerPoint Presentation</vt:lpstr>
      <vt:lpstr>Epipoles</vt:lpstr>
      <vt:lpstr>The Essential Matrix</vt:lpstr>
      <vt:lpstr>What if Camera Calibration is not known</vt:lpstr>
      <vt:lpstr>Review: Intrinsic Camera Parameters</vt:lpstr>
      <vt:lpstr>Fundamental Matrix</vt:lpstr>
      <vt:lpstr>Fundamental Matrix</vt:lpstr>
      <vt:lpstr>Estimating Fundamental Matrix</vt:lpstr>
      <vt:lpstr>The 8-point Algorithm</vt:lpstr>
      <vt:lpstr>Example</vt:lpstr>
      <vt:lpstr>Example ctd.</vt:lpstr>
      <vt:lpstr>Example: Left to Right</vt:lpstr>
      <vt:lpstr>Example: Right to Left</vt:lpstr>
      <vt:lpstr>Example: Epipoles?</vt:lpstr>
      <vt:lpstr>Example: Epipoles?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Guido Gerig</dc:creator>
  <cp:lastModifiedBy>gerig</cp:lastModifiedBy>
  <cp:revision>152</cp:revision>
  <cp:lastPrinted>2012-02-15T19:07:59Z</cp:lastPrinted>
  <dcterms:created xsi:type="dcterms:W3CDTF">1601-01-01T00:00:00Z</dcterms:created>
  <dcterms:modified xsi:type="dcterms:W3CDTF">2013-02-06T17:42:59Z</dcterms:modified>
</cp:coreProperties>
</file>